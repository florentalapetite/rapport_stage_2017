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64" r:id="rId4"/>
    <p:sldId id="306" r:id="rId5"/>
    <p:sldId id="258" r:id="rId6"/>
    <p:sldId id="303" r:id="rId7"/>
    <p:sldId id="259" r:id="rId8"/>
    <p:sldId id="304" r:id="rId9"/>
    <p:sldId id="261" r:id="rId10"/>
    <p:sldId id="263" r:id="rId11"/>
    <p:sldId id="265" r:id="rId12"/>
    <p:sldId id="262" r:id="rId13"/>
    <p:sldId id="266" r:id="rId14"/>
    <p:sldId id="260" r:id="rId15"/>
    <p:sldId id="267" r:id="rId16"/>
    <p:sldId id="269" r:id="rId17"/>
    <p:sldId id="270" r:id="rId18"/>
    <p:sldId id="271" r:id="rId19"/>
    <p:sldId id="272" r:id="rId20"/>
    <p:sldId id="275" r:id="rId21"/>
    <p:sldId id="274" r:id="rId22"/>
    <p:sldId id="277" r:id="rId23"/>
    <p:sldId id="278" r:id="rId24"/>
    <p:sldId id="307" r:id="rId25"/>
    <p:sldId id="281" r:id="rId26"/>
    <p:sldId id="287" r:id="rId27"/>
    <p:sldId id="288" r:id="rId28"/>
    <p:sldId id="289" r:id="rId29"/>
    <p:sldId id="295" r:id="rId30"/>
    <p:sldId id="297" r:id="rId31"/>
    <p:sldId id="298" r:id="rId32"/>
    <p:sldId id="299" r:id="rId33"/>
    <p:sldId id="300" r:id="rId34"/>
    <p:sldId id="301" r:id="rId35"/>
    <p:sldId id="302" r:id="rId36"/>
    <p:sldId id="305" r:id="rId3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953D"/>
    <a:srgbClr val="FFFFFF"/>
    <a:srgbClr val="004492"/>
    <a:srgbClr val="005DC4"/>
    <a:srgbClr val="EE7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29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4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019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17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467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5753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10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33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05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06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64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2FCAB-7790-4482-93FE-A99EB51AB40F}" type="datetimeFigureOut">
              <a:rPr lang="fr-FR" smtClean="0"/>
              <a:t>17/06/2016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068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1591827"/>
            <a:ext cx="9144000" cy="1646302"/>
          </a:xfrm>
        </p:spPr>
        <p:txBody>
          <a:bodyPr/>
          <a:lstStyle/>
          <a:p>
            <a:r>
              <a:rPr lang="fr-FR" sz="6000" b="1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Soutenance de Stage</a:t>
            </a:r>
            <a:endParaRPr lang="fr-FR" sz="6000" b="1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29936" y="3391483"/>
            <a:ext cx="8063345" cy="1096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2500" dirty="0" smtClean="0">
                <a:solidFill>
                  <a:srgbClr val="EE7B21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Développement d’un service interface entre une solution de couplage téléphonie informatique et l’ERP Microsoft Dynamics </a:t>
            </a:r>
            <a:r>
              <a:rPr lang="fr-FR" sz="2500" dirty="0" err="1" smtClean="0">
                <a:solidFill>
                  <a:srgbClr val="EE7B21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Nav</a:t>
            </a:r>
            <a:endParaRPr lang="fr-FR" sz="2500" dirty="0">
              <a:solidFill>
                <a:srgbClr val="EE7B21"/>
              </a:solidFill>
              <a:latin typeface="Eurostile" panose="020B0504020202050204" pitchFamily="34" charset="0"/>
              <a:cs typeface="Microsoft New Tai Lue" panose="020B0502040204020203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77661" y="234648"/>
            <a:ext cx="271092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dirty="0">
                <a:solidFill>
                  <a:schemeClr val="bg1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ALAPETITE</a:t>
            </a:r>
          </a:p>
          <a:p>
            <a:r>
              <a:rPr lang="fr-FR" sz="2600" dirty="0">
                <a:solidFill>
                  <a:schemeClr val="bg1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Florent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45" y="255058"/>
            <a:ext cx="1995055" cy="155626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2988588" y="6010996"/>
            <a:ext cx="3850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Année scolaire 2015 - 2016</a:t>
            </a:r>
            <a:endParaRPr lang="fr-FR" sz="2000" dirty="0">
              <a:solidFill>
                <a:srgbClr val="004492"/>
              </a:solidFill>
              <a:latin typeface="Eurostile" panose="020B0504020202050204" pitchFamily="34" charset="0"/>
              <a:cs typeface="Microsoft New Tai Lue" panose="020B0502040204020203" pitchFamily="34" charset="0"/>
            </a:endParaRPr>
          </a:p>
        </p:txBody>
      </p:sp>
      <p:pic>
        <p:nvPicPr>
          <p:cNvPr id="1026" name="Picture 2" descr="https://www.univ-orleans.fr/iut-orleans/informatique/intra/concours/2015/img/iu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62" y="5403273"/>
            <a:ext cx="1350818" cy="135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/>
          <p:cNvSpPr txBox="1"/>
          <p:nvPr/>
        </p:nvSpPr>
        <p:spPr>
          <a:xfrm>
            <a:off x="0" y="15189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solidFill>
                  <a:srgbClr val="005DC4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Maître de stage : M. </a:t>
            </a:r>
            <a:r>
              <a:rPr lang="fr-FR" sz="1600" dirty="0" err="1" smtClean="0">
                <a:solidFill>
                  <a:srgbClr val="005DC4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Dagois</a:t>
            </a:r>
            <a:endParaRPr lang="fr-FR" sz="1600" dirty="0" smtClean="0">
              <a:solidFill>
                <a:srgbClr val="005DC4"/>
              </a:solidFill>
              <a:latin typeface="Eurostile" panose="020B0504020202050204" pitchFamily="34" charset="0"/>
              <a:cs typeface="Microsoft New Tai Lue" panose="020B0502040204020203" pitchFamily="34" charset="0"/>
            </a:endParaRPr>
          </a:p>
          <a:p>
            <a:pPr algn="ctr"/>
            <a:r>
              <a:rPr lang="fr-FR" sz="1600" dirty="0" smtClean="0">
                <a:solidFill>
                  <a:srgbClr val="005DC4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Professeur référent : Mme . </a:t>
            </a:r>
            <a:r>
              <a:rPr lang="fr-FR" sz="1600" dirty="0" err="1" smtClean="0">
                <a:solidFill>
                  <a:srgbClr val="005DC4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Anglade</a:t>
            </a:r>
            <a:endParaRPr lang="fr-FR" sz="1600" dirty="0">
              <a:solidFill>
                <a:srgbClr val="005DC4"/>
              </a:solidFill>
              <a:latin typeface="Eurostile" panose="020B0504020202050204" pitchFamily="34" charset="0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45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4123" y="1856798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Présentation de l’entreprise </a:t>
            </a:r>
            <a:r>
              <a:rPr lang="fr-FR" sz="26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Eskape</a:t>
            </a:r>
            <a:endParaRPr lang="fr-FR" sz="26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Sujet du stage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Analyse des besoins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Développement de la solution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Bilan humain et technique</a:t>
            </a:r>
            <a:endParaRPr lang="fr-FR" sz="26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15315" y="99566"/>
            <a:ext cx="362932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500" dirty="0" smtClean="0">
                <a:solidFill>
                  <a:schemeClr val="bg1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Sommaire</a:t>
            </a:r>
            <a:endParaRPr lang="fr-FR" sz="5500" dirty="0">
              <a:solidFill>
                <a:schemeClr val="bg1"/>
              </a:solidFill>
              <a:latin typeface="Eurostile" panose="020B0504020202050204" pitchFamily="34" charset="0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13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04924" y="109957"/>
            <a:ext cx="38059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500" dirty="0" smtClean="0">
                <a:solidFill>
                  <a:schemeClr val="bg1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Introduction</a:t>
            </a:r>
            <a:endParaRPr lang="fr-FR" sz="5500" dirty="0">
              <a:solidFill>
                <a:schemeClr val="bg1"/>
              </a:solidFill>
              <a:latin typeface="Eurostile" panose="020B0504020202050204" pitchFamily="34" charset="0"/>
              <a:cs typeface="Microsoft New Tai Lue" panose="020B0502040204020203" pitchFamily="34" charset="0"/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1117024" y="219493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Validation du DUT Informatique : stage de 10 semaines</a:t>
            </a:r>
          </a:p>
          <a:p>
            <a:pPr marL="342900" lvl="1" indent="0">
              <a:lnSpc>
                <a:spcPct val="200000"/>
              </a:lnSpc>
              <a:buNone/>
            </a:pPr>
            <a:r>
              <a:rPr lang="fr-FR" sz="21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Partie intégrante de la formation</a:t>
            </a:r>
            <a:endParaRPr lang="fr-FR" sz="21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buNone/>
            </a:pPr>
            <a:endParaRPr lang="fr-FR" sz="24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r>
              <a:rPr lang="fr-FR" sz="24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Réalisé au sein de l’entreprise </a:t>
            </a:r>
            <a:r>
              <a:rPr lang="fr-FR" sz="24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Eskape</a:t>
            </a:r>
            <a:endParaRPr lang="fr-FR" sz="24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endParaRPr lang="fr-FR" sz="24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1"/>
            <a:endParaRPr lang="fr-FR" sz="24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sz="24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endParaRPr lang="fr-FR" sz="24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632" y="4548981"/>
            <a:ext cx="2078736" cy="162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3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04924" y="109957"/>
            <a:ext cx="38059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500" dirty="0" smtClean="0">
                <a:solidFill>
                  <a:schemeClr val="bg1"/>
                </a:solidFill>
                <a:latin typeface="Eurostile" panose="020B0504020202050204" pitchFamily="34" charset="0"/>
                <a:cs typeface="Microsoft New Tai Lue" panose="020B0502040204020203" pitchFamily="34" charset="0"/>
              </a:rPr>
              <a:t>Introduction</a:t>
            </a:r>
            <a:endParaRPr lang="fr-FR" sz="5500" dirty="0">
              <a:solidFill>
                <a:schemeClr val="bg1"/>
              </a:solidFill>
              <a:latin typeface="Eurostile" panose="020B0504020202050204" pitchFamily="34" charset="0"/>
              <a:cs typeface="Microsoft New Tai Lue" panose="020B0502040204020203" pitchFamily="34" charset="0"/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1018309" y="192477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</a:pPr>
            <a:r>
              <a:rPr lang="fr-FR" sz="2400" dirty="0">
                <a:solidFill>
                  <a:srgbClr val="004492"/>
                </a:solidFill>
                <a:latin typeface="Eurostile" panose="020B0504020202050204" pitchFamily="34" charset="0"/>
              </a:rPr>
              <a:t>Travail autour de 3 projets majeurs :</a:t>
            </a:r>
          </a:p>
          <a:p>
            <a:pPr lvl="1">
              <a:lnSpc>
                <a:spcPct val="250000"/>
              </a:lnSpc>
            </a:pPr>
            <a:r>
              <a:rPr lang="fr-FR" sz="2100" dirty="0">
                <a:solidFill>
                  <a:srgbClr val="004492"/>
                </a:solidFill>
                <a:latin typeface="Eurostile" panose="020B0504020202050204" pitchFamily="34" charset="0"/>
              </a:rPr>
              <a:t>Service interface CTI / Dynamics </a:t>
            </a:r>
            <a:r>
              <a:rPr lang="fr-FR" sz="2100" dirty="0" err="1">
                <a:solidFill>
                  <a:srgbClr val="004492"/>
                </a:solidFill>
                <a:latin typeface="Eurostile" panose="020B0504020202050204" pitchFamily="34" charset="0"/>
              </a:rPr>
              <a:t>Nav</a:t>
            </a:r>
            <a:endParaRPr lang="fr-FR" sz="21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1">
              <a:lnSpc>
                <a:spcPct val="250000"/>
              </a:lnSpc>
            </a:pPr>
            <a:r>
              <a:rPr lang="fr-FR" sz="2100" dirty="0">
                <a:solidFill>
                  <a:srgbClr val="004492"/>
                </a:solidFill>
                <a:latin typeface="Eurostile" panose="020B0504020202050204" pitchFamily="34" charset="0"/>
              </a:rPr>
              <a:t>Création de rapports dynamiques (</a:t>
            </a:r>
            <a:r>
              <a:rPr lang="fr-FR" sz="2100" dirty="0" err="1">
                <a:solidFill>
                  <a:srgbClr val="004492"/>
                </a:solidFill>
                <a:latin typeface="Eurostile" panose="020B0504020202050204" pitchFamily="34" charset="0"/>
              </a:rPr>
              <a:t>Reporting</a:t>
            </a:r>
            <a:r>
              <a:rPr lang="fr-FR" sz="2100" dirty="0">
                <a:solidFill>
                  <a:srgbClr val="004492"/>
                </a:solidFill>
                <a:latin typeface="Eurostile" panose="020B0504020202050204" pitchFamily="34" charset="0"/>
              </a:rPr>
              <a:t> Services)</a:t>
            </a:r>
          </a:p>
          <a:p>
            <a:pPr lvl="1">
              <a:lnSpc>
                <a:spcPct val="250000"/>
              </a:lnSpc>
            </a:pPr>
            <a:r>
              <a:rPr lang="fr-FR" sz="2100" dirty="0">
                <a:solidFill>
                  <a:srgbClr val="004492"/>
                </a:solidFill>
                <a:latin typeface="Eurostile" panose="020B0504020202050204" pitchFamily="34" charset="0"/>
              </a:rPr>
              <a:t>Mise en place de la partie fonctionnelle : gestion des absences</a:t>
            </a:r>
          </a:p>
          <a:p>
            <a:pPr>
              <a:lnSpc>
                <a:spcPct val="250000"/>
              </a:lnSpc>
            </a:pPr>
            <a:endParaRPr lang="fr-FR" sz="24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43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  <a:latin typeface="Eurostile" panose="020B0504020202050204" pitchFamily="34" charset="0"/>
              </a:rPr>
              <a:t>Présentation de l’entreprise</a:t>
            </a:r>
            <a:br>
              <a:rPr lang="fr-FR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dirty="0" smtClean="0">
                <a:solidFill>
                  <a:schemeClr val="bg1"/>
                </a:solidFill>
                <a:latin typeface="Eurostile" panose="020B0504020202050204" pitchFamily="34" charset="0"/>
              </a:rPr>
              <a:t>   </a:t>
            </a:r>
            <a:r>
              <a:rPr lang="fr-FR" dirty="0" err="1" smtClean="0">
                <a:solidFill>
                  <a:schemeClr val="bg1"/>
                </a:solidFill>
                <a:latin typeface="Eurostile" panose="020B0504020202050204" pitchFamily="34" charset="0"/>
              </a:rPr>
              <a:t>Eskape</a:t>
            </a:r>
            <a:endParaRPr lang="fr-FR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69" y="662781"/>
            <a:ext cx="2078736" cy="1621536"/>
          </a:xfrm>
          <a:prstGeom prst="rect">
            <a:avLst/>
          </a:prstGeom>
        </p:spPr>
      </p:pic>
      <p:sp>
        <p:nvSpPr>
          <p:cNvPr id="4" name="Espace réservé du contenu 2"/>
          <p:cNvSpPr txBox="1">
            <a:spLocks/>
          </p:cNvSpPr>
          <p:nvPr/>
        </p:nvSpPr>
        <p:spPr>
          <a:xfrm>
            <a:off x="1122218" y="2095933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SARL 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Eskape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: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Entreprise de services du numérique (ESN)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Fondée en 1998 par Laurent </a:t>
            </a:r>
            <a:r>
              <a:rPr lang="fr-FR" sz="20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Fontenit</a:t>
            </a: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1">
              <a:lnSpc>
                <a:spcPct val="200000"/>
              </a:lnSpc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Plusieurs pôles 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Développement ERP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Système et réseaux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Administratif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Marketing</a:t>
            </a:r>
          </a:p>
          <a:p>
            <a:pPr lvl="1"/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86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53794"/>
            <a:ext cx="7886700" cy="1325563"/>
          </a:xfrm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  <a:latin typeface="Eurostile" panose="020B0504020202050204" pitchFamily="34" charset="0"/>
              </a:rPr>
              <a:t>Présentation de l’entreprise</a:t>
            </a:r>
            <a:br>
              <a:rPr lang="fr-FR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dirty="0" smtClean="0">
                <a:solidFill>
                  <a:schemeClr val="bg1"/>
                </a:solidFill>
                <a:latin typeface="Eurostile" panose="020B0504020202050204" pitchFamily="34" charset="0"/>
              </a:rPr>
              <a:t>   </a:t>
            </a:r>
            <a:r>
              <a:rPr lang="fr-FR" dirty="0" err="1" smtClean="0">
                <a:solidFill>
                  <a:schemeClr val="bg1"/>
                </a:solidFill>
                <a:latin typeface="Eurostile" panose="020B0504020202050204" pitchFamily="34" charset="0"/>
              </a:rPr>
              <a:t>Eskape</a:t>
            </a:r>
            <a:endParaRPr lang="fr-FR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69" y="662781"/>
            <a:ext cx="2078736" cy="1621536"/>
          </a:xfrm>
          <a:prstGeom prst="rect">
            <a:avLst/>
          </a:prstGeom>
        </p:spPr>
      </p:pic>
      <p:sp>
        <p:nvSpPr>
          <p:cNvPr id="4" name="Espace réservé du contenu 2"/>
          <p:cNvSpPr txBox="1">
            <a:spLocks/>
          </p:cNvSpPr>
          <p:nvPr/>
        </p:nvSpPr>
        <p:spPr>
          <a:xfrm>
            <a:off x="1122218" y="2095933"/>
            <a:ext cx="7886700" cy="20084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Projets : </a:t>
            </a:r>
            <a:r>
              <a:rPr lang="fr-FR" sz="2200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ERP Microsoft Dynamics </a:t>
            </a:r>
            <a:r>
              <a:rPr lang="fr-FR" sz="2200" dirty="0" err="1" smtClean="0">
                <a:solidFill>
                  <a:srgbClr val="FF0000"/>
                </a:solidFill>
                <a:latin typeface="Eurostile" panose="020B0504020202050204" pitchFamily="34" charset="0"/>
              </a:rPr>
              <a:t>Nav</a:t>
            </a:r>
            <a:endParaRPr lang="fr-FR" sz="2200" dirty="0" smtClean="0">
              <a:solidFill>
                <a:srgbClr val="FF0000"/>
              </a:solidFill>
              <a:latin typeface="Eurostile" panose="020B0504020202050204" pitchFamily="34" charset="0"/>
            </a:endParaRPr>
          </a:p>
          <a:p>
            <a:pPr lvl="1">
              <a:lnSpc>
                <a:spcPct val="200000"/>
              </a:lnSpc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Mise en place</a:t>
            </a:r>
          </a:p>
          <a:p>
            <a:pPr lvl="1">
              <a:lnSpc>
                <a:spcPct val="200000"/>
              </a:lnSpc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Développement de modules spécifiques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122218" y="4010891"/>
            <a:ext cx="676448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Dynamics 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Nav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Progiciel de gestion intégré de Microsoft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Adapté aux PME-PMI</a:t>
            </a:r>
          </a:p>
          <a:p>
            <a:pPr>
              <a:lnSpc>
                <a:spcPct val="200000"/>
              </a:lnSpc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	</a:t>
            </a:r>
            <a:endParaRPr lang="fr-FR" sz="1900" dirty="0"/>
          </a:p>
        </p:txBody>
      </p:sp>
    </p:spTree>
    <p:extLst>
      <p:ext uri="{BB962C8B-B14F-4D97-AF65-F5344CB8AC3E}">
        <p14:creationId xmlns:p14="http://schemas.microsoft.com/office/powerpoint/2010/main" val="421408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082" y="0"/>
            <a:ext cx="7886700" cy="1325563"/>
          </a:xfrm>
        </p:spPr>
        <p:txBody>
          <a:bodyPr>
            <a:normAutofit/>
          </a:bodyPr>
          <a:lstStyle/>
          <a:p>
            <a:r>
              <a:rPr lang="fr-FR" sz="47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Sujet du stage</a:t>
            </a:r>
            <a:endParaRPr lang="fr-FR" sz="47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4514" y="2199698"/>
            <a:ext cx="7886700" cy="4351338"/>
          </a:xfrm>
        </p:spPr>
        <p:txBody>
          <a:bodyPr>
            <a:noAutofit/>
          </a:bodyPr>
          <a:lstStyle/>
          <a:p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Besoin exprimé par un client d’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Eskape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:</a:t>
            </a:r>
          </a:p>
          <a:p>
            <a:pPr lvl="1"/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1"/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Identification des appels reçus et passés par l’entreprise</a:t>
            </a:r>
          </a:p>
          <a:p>
            <a:pPr lvl="1"/>
            <a:endParaRPr lang="fr-FR" sz="20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1"/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Intégration de la solution dans le système d’information</a:t>
            </a:r>
          </a:p>
          <a:p>
            <a:pPr marL="457200" lvl="1" indent="0">
              <a:buNone/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1"/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Solution déjà vendue à l’entreprise cliente : enjeu important</a:t>
            </a:r>
          </a:p>
          <a:p>
            <a:pPr lvl="1"/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914400" lvl="2" indent="0">
              <a:buNone/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39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082" y="0"/>
            <a:ext cx="7886700" cy="1325563"/>
          </a:xfrm>
        </p:spPr>
        <p:txBody>
          <a:bodyPr>
            <a:normAutofit/>
          </a:bodyPr>
          <a:lstStyle/>
          <a:p>
            <a:r>
              <a:rPr lang="fr-FR" sz="47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Sujet du stage</a:t>
            </a:r>
            <a:endParaRPr lang="fr-FR" sz="47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4514" y="2199698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600" b="1" u="sng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Interface :</a:t>
            </a:r>
          </a:p>
          <a:p>
            <a:pPr marL="0" indent="0">
              <a:buNone/>
            </a:pPr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2"/>
            <a:r>
              <a:rPr lang="fr-FR" sz="2100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Solution de couplage téléphonie informatique (CTI)</a:t>
            </a:r>
          </a:p>
          <a:p>
            <a:pPr marL="0" indent="0">
              <a:buNone/>
            </a:pPr>
            <a:r>
              <a:rPr lang="fr-FR" sz="2200" dirty="0">
                <a:solidFill>
                  <a:srgbClr val="004492"/>
                </a:solidFill>
                <a:latin typeface="Eurostile" panose="020B0504020202050204" pitchFamily="34" charset="0"/>
              </a:rPr>
              <a:t>	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	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Evènements téléphoniques</a:t>
            </a: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0" indent="0">
              <a:buNone/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0" indent="0">
              <a:buNone/>
            </a:pPr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2"/>
            <a:r>
              <a:rPr lang="fr-FR" sz="2100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ERP Microsoft Dynamics </a:t>
            </a:r>
            <a:r>
              <a:rPr lang="fr-FR" sz="2100" dirty="0" err="1" smtClean="0">
                <a:solidFill>
                  <a:srgbClr val="FF0000"/>
                </a:solidFill>
                <a:latin typeface="Eurostile" panose="020B0504020202050204" pitchFamily="34" charset="0"/>
              </a:rPr>
              <a:t>Nav</a:t>
            </a:r>
            <a:endParaRPr lang="fr-FR" sz="2100" dirty="0" smtClean="0">
              <a:solidFill>
                <a:srgbClr val="FF0000"/>
              </a:solidFill>
              <a:latin typeface="Eurostile" panose="020B0504020202050204" pitchFamily="34" charset="0"/>
            </a:endParaRPr>
          </a:p>
          <a:p>
            <a:pPr marL="0" indent="0">
              <a:buNone/>
            </a:pPr>
            <a:r>
              <a:rPr lang="fr-FR" sz="2200" dirty="0">
                <a:solidFill>
                  <a:srgbClr val="004492"/>
                </a:solidFill>
                <a:latin typeface="Eurostile" panose="020B0504020202050204" pitchFamily="34" charset="0"/>
              </a:rPr>
              <a:t>	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	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Données des contacts</a:t>
            </a: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19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082" y="0"/>
            <a:ext cx="7886700" cy="1325563"/>
          </a:xfrm>
        </p:spPr>
        <p:txBody>
          <a:bodyPr>
            <a:normAutofit/>
          </a:bodyPr>
          <a:lstStyle/>
          <a:p>
            <a:r>
              <a:rPr lang="fr-FR" sz="44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Solution CTI Eliot</a:t>
            </a:r>
            <a:endParaRPr lang="fr-FR" sz="44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22168" y="2210089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ELIOT : Solution de couplage téléphonie-informatique (CTI)</a:t>
            </a:r>
          </a:p>
          <a:p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Développée par</a:t>
            </a:r>
          </a:p>
          <a:p>
            <a:pPr marL="0" indent="0">
              <a:buNone/>
            </a:pPr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Reçoit les évènements du PABX :</a:t>
            </a:r>
          </a:p>
          <a:p>
            <a:pPr lvl="1">
              <a:lnSpc>
                <a:spcPct val="150000"/>
              </a:lnSpc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Appel entrant</a:t>
            </a:r>
          </a:p>
          <a:p>
            <a:pPr lvl="1">
              <a:lnSpc>
                <a:spcPct val="150000"/>
              </a:lnSpc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Appel sortant</a:t>
            </a:r>
          </a:p>
          <a:p>
            <a:pPr lvl="1">
              <a:lnSpc>
                <a:spcPct val="150000"/>
              </a:lnSpc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Transfert d’appel</a:t>
            </a:r>
          </a:p>
          <a:p>
            <a:pPr lvl="1">
              <a:lnSpc>
                <a:spcPct val="150000"/>
              </a:lnSpc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Poste décroché/raccroché</a:t>
            </a:r>
          </a:p>
          <a:p>
            <a:pPr lvl="1">
              <a:lnSpc>
                <a:spcPct val="150000"/>
              </a:lnSpc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… </a:t>
            </a:r>
          </a:p>
        </p:txBody>
      </p:sp>
      <p:pic>
        <p:nvPicPr>
          <p:cNvPr id="1026" name="Picture 2" descr="http://www.isi-com.com/wp-content/uploads/2015/01/logo_isico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164" y="2875729"/>
            <a:ext cx="2137063" cy="55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isi-com.com/wp-content/uploads/2014/11/plaquette_eliot1-e143333416854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738" y="401302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85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4296" y="2055236"/>
            <a:ext cx="6347714" cy="757834"/>
          </a:xfrm>
        </p:spPr>
        <p:txBody>
          <a:bodyPr/>
          <a:lstStyle/>
          <a:p>
            <a:r>
              <a:rPr lang="fr-FR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Livré avec un bandeau agent personnel (PCB) :</a:t>
            </a:r>
          </a:p>
          <a:p>
            <a:endParaRPr lang="fr-FR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718" y="3735881"/>
            <a:ext cx="2962688" cy="4858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ZoneTexte 4"/>
          <p:cNvSpPr txBox="1"/>
          <p:nvPr/>
        </p:nvSpPr>
        <p:spPr>
          <a:xfrm>
            <a:off x="2942552" y="2719552"/>
            <a:ext cx="2254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Eurostile" panose="020B0504020202050204" pitchFamily="34" charset="0"/>
              </a:rPr>
              <a:t>Liste des agents</a:t>
            </a:r>
            <a:endParaRPr lang="fr-FR" sz="1400" dirty="0">
              <a:latin typeface="Eurostile" panose="020B0504020202050204" pitchFamily="34" charset="0"/>
            </a:endParaRPr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3108807" y="4221725"/>
            <a:ext cx="124692" cy="63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2429935" y="4853989"/>
            <a:ext cx="2254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Eurostile" panose="020B0504020202050204" pitchFamily="34" charset="0"/>
              </a:rPr>
              <a:t>Etat de l’agent</a:t>
            </a:r>
            <a:endParaRPr lang="fr-FR" sz="1400" dirty="0">
              <a:latin typeface="Eurostile" panose="020B0504020202050204" pitchFamily="34" charset="0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 flipH="1">
            <a:off x="3690698" y="3027329"/>
            <a:ext cx="20782" cy="663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3912371" y="4568094"/>
            <a:ext cx="2254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Eurostile" panose="020B0504020202050204" pitchFamily="34" charset="0"/>
              </a:rPr>
              <a:t>Contacts</a:t>
            </a:r>
            <a:endParaRPr lang="fr-FR" sz="1400" dirty="0">
              <a:latin typeface="Eurostile" panose="020B0504020202050204" pitchFamily="34" charset="0"/>
            </a:endParaRPr>
          </a:p>
        </p:txBody>
      </p:sp>
      <p:cxnSp>
        <p:nvCxnSpPr>
          <p:cNvPr id="22" name="Connecteur droit avec flèche 21"/>
          <p:cNvCxnSpPr/>
          <p:nvPr/>
        </p:nvCxnSpPr>
        <p:spPr>
          <a:xfrm flipH="1" flipV="1">
            <a:off x="4149062" y="4266725"/>
            <a:ext cx="92354" cy="30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4556608" y="2881796"/>
            <a:ext cx="2254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Eurostile" panose="020B0504020202050204" pitchFamily="34" charset="0"/>
              </a:rPr>
              <a:t>Historique d’appels</a:t>
            </a:r>
            <a:endParaRPr lang="fr-FR" sz="1400" dirty="0">
              <a:latin typeface="Eurostile" panose="020B0504020202050204" pitchFamily="34" charset="0"/>
            </a:endParaRPr>
          </a:p>
        </p:txBody>
      </p:sp>
      <p:cxnSp>
        <p:nvCxnSpPr>
          <p:cNvPr id="27" name="Connecteur droit avec flèche 26"/>
          <p:cNvCxnSpPr/>
          <p:nvPr/>
        </p:nvCxnSpPr>
        <p:spPr>
          <a:xfrm flipH="1">
            <a:off x="4684763" y="3230920"/>
            <a:ext cx="355023" cy="45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/>
        </p:nvSpPr>
        <p:spPr>
          <a:xfrm>
            <a:off x="135082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smtClean="0">
                <a:solidFill>
                  <a:schemeClr val="bg1"/>
                </a:solidFill>
                <a:latin typeface="Eurostile" panose="020B0504020202050204" pitchFamily="34" charset="0"/>
              </a:rPr>
              <a:t>Solution CTI Eliot</a:t>
            </a:r>
            <a:endParaRPr lang="fr-FR" sz="44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18" name="Espace réservé du contenu 2"/>
          <p:cNvSpPr txBox="1">
            <a:spLocks/>
          </p:cNvSpPr>
          <p:nvPr/>
        </p:nvSpPr>
        <p:spPr>
          <a:xfrm>
            <a:off x="543986" y="5731800"/>
            <a:ext cx="8281554" cy="757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Installé sur les ordinateurs agents utilisant les postes téléphoniques</a:t>
            </a:r>
            <a:endParaRPr lang="fr-FR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endParaRPr lang="fr-FR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2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2"/>
          <p:cNvSpPr txBox="1">
            <a:spLocks/>
          </p:cNvSpPr>
          <p:nvPr/>
        </p:nvSpPr>
        <p:spPr>
          <a:xfrm>
            <a:off x="1256912" y="2117373"/>
            <a:ext cx="8074124" cy="757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4492"/>
              </a:buClr>
              <a:buFont typeface="Eurostile" panose="020B0504020202050204" pitchFamily="34" charset="0"/>
              <a:buChar char="•"/>
            </a:pPr>
            <a:r>
              <a:rPr lang="fr-FR" sz="21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Apparition d’un bandeau mobile lors de communications téléphoniques</a:t>
            </a:r>
          </a:p>
          <a:p>
            <a:pPr marL="0" indent="0">
              <a:buNone/>
            </a:pPr>
            <a:endParaRPr lang="fr-FR" sz="21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0" indent="0">
              <a:buNone/>
            </a:pPr>
            <a:endParaRPr lang="fr-FR" sz="21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16" name="Titre 1"/>
          <p:cNvSpPr txBox="1">
            <a:spLocks/>
          </p:cNvSpPr>
          <p:nvPr/>
        </p:nvSpPr>
        <p:spPr>
          <a:xfrm>
            <a:off x="135082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smtClean="0">
                <a:solidFill>
                  <a:schemeClr val="bg1"/>
                </a:solidFill>
                <a:latin typeface="Eurostile" panose="020B0504020202050204" pitchFamily="34" charset="0"/>
              </a:rPr>
              <a:t>Solution CTI Eliot</a:t>
            </a:r>
            <a:endParaRPr lang="fr-FR" sz="44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17" name="Espace réservé du contenu 2"/>
          <p:cNvSpPr txBox="1">
            <a:spLocks/>
          </p:cNvSpPr>
          <p:nvPr/>
        </p:nvSpPr>
        <p:spPr>
          <a:xfrm>
            <a:off x="1256912" y="4711636"/>
            <a:ext cx="8074124" cy="757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4492"/>
              </a:buClr>
              <a:buFont typeface="Eurostile" panose="020B0504020202050204" pitchFamily="34" charset="0"/>
              <a:buChar char="•"/>
            </a:pPr>
            <a:r>
              <a:rPr lang="fr-FR" sz="21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En standard : informations </a:t>
            </a:r>
            <a:r>
              <a:rPr lang="fr-FR" sz="2100" b="1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basiques</a:t>
            </a:r>
            <a:r>
              <a:rPr lang="fr-FR" sz="21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</a:t>
            </a:r>
          </a:p>
          <a:p>
            <a:pPr marL="0" indent="0">
              <a:buNone/>
            </a:pPr>
            <a:endParaRPr lang="fr-FR" sz="21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0" indent="0">
              <a:buNone/>
            </a:pPr>
            <a:endParaRPr lang="fr-FR" sz="21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466" y="3278999"/>
            <a:ext cx="4296375" cy="514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447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contenu 30"/>
          <p:cNvSpPr>
            <a:spLocks noGrp="1"/>
          </p:cNvSpPr>
          <p:nvPr>
            <p:ph idx="1"/>
          </p:nvPr>
        </p:nvSpPr>
        <p:spPr>
          <a:xfrm>
            <a:off x="805295" y="1742498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Identification des appels avec les données de la table Contact de Microsoft Dynamics 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Nav</a:t>
            </a: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150000"/>
              </a:lnSpc>
            </a:pPr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150000"/>
              </a:lnSpc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0835" y="-76201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smtClean="0">
                <a:solidFill>
                  <a:schemeClr val="bg1"/>
                </a:solidFill>
                <a:latin typeface="Eurostile" panose="020B0504020202050204" pitchFamily="34" charset="0"/>
              </a:rPr>
              <a:t>Analyse des besoins</a:t>
            </a:r>
            <a:endParaRPr lang="fr-FR" sz="40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431" y="3135455"/>
            <a:ext cx="6687483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8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contenu 30"/>
          <p:cNvSpPr>
            <a:spLocks noGrp="1"/>
          </p:cNvSpPr>
          <p:nvPr>
            <p:ph idx="1"/>
          </p:nvPr>
        </p:nvSpPr>
        <p:spPr>
          <a:xfrm>
            <a:off x="919595" y="1922895"/>
            <a:ext cx="7886700" cy="23723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Conservation des traces des appels :</a:t>
            </a:r>
          </a:p>
          <a:p>
            <a:pPr lvl="1">
              <a:lnSpc>
                <a:spcPct val="150000"/>
              </a:lnSpc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Entrants</a:t>
            </a:r>
          </a:p>
          <a:p>
            <a:pPr lvl="1">
              <a:lnSpc>
                <a:spcPct val="150000"/>
              </a:lnSpc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Sortants</a:t>
            </a:r>
          </a:p>
          <a:p>
            <a:pPr lvl="1">
              <a:lnSpc>
                <a:spcPct val="150000"/>
              </a:lnSpc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Internes</a:t>
            </a:r>
          </a:p>
          <a:p>
            <a:pPr marL="342900" lvl="1" indent="0">
              <a:lnSpc>
                <a:spcPct val="150000"/>
              </a:lnSpc>
              <a:buNone/>
            </a:pPr>
            <a:endParaRPr lang="fr-FR" sz="19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150000"/>
              </a:lnSpc>
              <a:buNone/>
            </a:pPr>
            <a:endParaRPr lang="fr-FR" sz="16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150000"/>
              </a:lnSpc>
            </a:pPr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150000"/>
              </a:lnSpc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0835" y="-76201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smtClean="0">
                <a:solidFill>
                  <a:schemeClr val="bg1"/>
                </a:solidFill>
                <a:latin typeface="Eurostile" panose="020B0504020202050204" pitchFamily="34" charset="0"/>
              </a:rPr>
              <a:t>Analyse des besoins</a:t>
            </a:r>
            <a:endParaRPr lang="fr-FR" sz="40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6" name="Espace réservé du contenu 30"/>
          <p:cNvSpPr txBox="1">
            <a:spLocks/>
          </p:cNvSpPr>
          <p:nvPr/>
        </p:nvSpPr>
        <p:spPr>
          <a:xfrm>
            <a:off x="919595" y="4295197"/>
            <a:ext cx="7886700" cy="237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Levée de fiche contact</a:t>
            </a: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Directement dans Dynamics </a:t>
            </a:r>
            <a:r>
              <a:rPr lang="fr-FR" sz="1900" dirty="0" err="1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Nav</a:t>
            </a: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Avec les informations de la communication en cours</a:t>
            </a: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fr-FR" sz="16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150000"/>
              </a:lnSpc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150000"/>
              </a:lnSpc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19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0835" y="-76201"/>
            <a:ext cx="6347713" cy="1320800"/>
          </a:xfrm>
        </p:spPr>
        <p:txBody>
          <a:bodyPr>
            <a:norm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Analyse des besoins</a:t>
            </a:r>
            <a:endParaRPr lang="fr-FR" sz="40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0" y="1488208"/>
            <a:ext cx="9144000" cy="773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Représentation schématique des interactions à mettre en place</a:t>
            </a:r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08" y="1693720"/>
            <a:ext cx="8205984" cy="530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3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0835" y="-76201"/>
            <a:ext cx="6347713" cy="1320800"/>
          </a:xfrm>
        </p:spPr>
        <p:txBody>
          <a:bodyPr>
            <a:norm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Analyse des besoins</a:t>
            </a:r>
            <a:endParaRPr lang="fr-FR" sz="40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64" y="1158707"/>
            <a:ext cx="7797346" cy="598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2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330037" y="2102371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Auto-formation : utilisation de nouvelles technologies :</a:t>
            </a:r>
          </a:p>
        </p:txBody>
      </p:sp>
      <p:pic>
        <p:nvPicPr>
          <p:cNvPr id="2050" name="Picture 2" descr="http://www.guillaumebrout.fr/wp-content/uploads/2016/01/2p4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103" y="3156333"/>
            <a:ext cx="1579707" cy="157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contenu 30"/>
          <p:cNvSpPr txBox="1">
            <a:spLocks/>
          </p:cNvSpPr>
          <p:nvPr/>
        </p:nvSpPr>
        <p:spPr>
          <a:xfrm>
            <a:off x="3020292" y="2969647"/>
            <a:ext cx="7886700" cy="3505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Langage de programmation orienté objet</a:t>
            </a:r>
          </a:p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Langage propriétaire : Microsoft</a:t>
            </a:r>
          </a:p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Similitudes :</a:t>
            </a:r>
          </a:p>
          <a:p>
            <a:pPr lvl="1">
              <a:lnSpc>
                <a:spcPct val="150000"/>
              </a:lnSpc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C++</a:t>
            </a:r>
          </a:p>
          <a:p>
            <a:pPr lvl="1">
              <a:lnSpc>
                <a:spcPct val="150000"/>
              </a:lnSpc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JAVA</a:t>
            </a:r>
          </a:p>
          <a:p>
            <a:pPr marL="342900" lvl="1" indent="0">
              <a:lnSpc>
                <a:spcPct val="150000"/>
              </a:lnSpc>
              <a:buNone/>
            </a:pP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87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257300" y="1816796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Auto-formation : utilisation de nouvelles technologies :</a:t>
            </a:r>
          </a:p>
        </p:txBody>
      </p:sp>
      <p:sp>
        <p:nvSpPr>
          <p:cNvPr id="10" name="Espace réservé du contenu 30"/>
          <p:cNvSpPr txBox="1">
            <a:spLocks/>
          </p:cNvSpPr>
          <p:nvPr/>
        </p:nvSpPr>
        <p:spPr>
          <a:xfrm>
            <a:off x="822046" y="2993720"/>
            <a:ext cx="2597727" cy="854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2600" b="1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Web Services </a:t>
            </a: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3041074" y="2719914"/>
            <a:ext cx="7886700" cy="1872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Application servant de communication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Entre programmes distribués</a:t>
            </a: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Protocole de transport : HTTP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150000"/>
              </a:lnSpc>
              <a:buNone/>
            </a:pP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11" name="Espace réservé du contenu 30"/>
          <p:cNvSpPr txBox="1">
            <a:spLocks/>
          </p:cNvSpPr>
          <p:nvPr/>
        </p:nvSpPr>
        <p:spPr>
          <a:xfrm>
            <a:off x="822046" y="4971336"/>
            <a:ext cx="2055655" cy="13032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fr-FR" sz="2500" b="1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Web Services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fr-FR" sz="2500" b="1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SOAP </a:t>
            </a:r>
          </a:p>
        </p:txBody>
      </p:sp>
      <p:sp>
        <p:nvSpPr>
          <p:cNvPr id="12" name="Espace réservé du contenu 30"/>
          <p:cNvSpPr txBox="1">
            <a:spLocks/>
          </p:cNvSpPr>
          <p:nvPr/>
        </p:nvSpPr>
        <p:spPr>
          <a:xfrm>
            <a:off x="3041074" y="4825099"/>
            <a:ext cx="7886700" cy="1803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Simple Object Access Protocol </a:t>
            </a:r>
          </a:p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Architecture : XML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150000"/>
              </a:lnSpc>
              <a:buNone/>
            </a:pP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62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904010" y="1901879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Développement du service 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Eskape.Service.CTI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:</a:t>
            </a: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1084118" y="2522377"/>
            <a:ext cx="8059882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Service Windows </a:t>
            </a: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</a:t>
            </a: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Langage C#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IDE : Microsoft Visual Studio 2015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Création d’un service « base »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Enrichissement du service avec des fonctionnalités de plus en plus poussées </a:t>
            </a:r>
          </a:p>
          <a:p>
            <a:pPr marL="342900" lvl="1" indent="0">
              <a:lnSpc>
                <a:spcPct val="200000"/>
              </a:lnSpc>
              <a:buNone/>
            </a:pP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78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00" y="1143000"/>
            <a:ext cx="2913294" cy="5070764"/>
          </a:xfrm>
          <a:prstGeom prst="rect">
            <a:avLst/>
          </a:prstGeom>
        </p:spPr>
      </p:pic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505691" y="2017738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1</a:t>
            </a:r>
            <a:r>
              <a:rPr lang="fr-FR" sz="2200" baseline="30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er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travail : interface 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Eskape.Service.CTI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/ ELIOT :</a:t>
            </a: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730827" y="2812625"/>
            <a:ext cx="6729846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CtiServerConnector.DLL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Instancie une connexion avec la solution ELIOT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Permet l’écoute et le traitement d’évènements </a:t>
            </a:r>
          </a:p>
          <a:p>
            <a:pPr marL="342900" lvl="1" indent="0">
              <a:lnSpc>
                <a:spcPct val="250000"/>
              </a:lnSpc>
              <a:buNone/>
            </a:pPr>
            <a:r>
              <a:rPr lang="fr-FR" sz="2000" dirty="0">
                <a:solidFill>
                  <a:srgbClr val="004492"/>
                </a:solidFill>
                <a:latin typeface="Eurostile" panose="020B0504020202050204" pitchFamily="34" charset="0"/>
              </a:rPr>
              <a:t> </a:t>
            </a: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 </a:t>
            </a:r>
            <a:endParaRPr lang="fr-FR" sz="17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250000"/>
              </a:lnSpc>
              <a:buNone/>
            </a:pP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267896" y="5237019"/>
            <a:ext cx="40732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fr-FR" sz="2000" dirty="0">
                <a:solidFill>
                  <a:srgbClr val="004492"/>
                </a:solidFill>
                <a:latin typeface="Eurostile" panose="020B0504020202050204" pitchFamily="34" charset="0"/>
              </a:rPr>
              <a:t>envoyés par ELIOT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16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904010" y="1974616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1</a:t>
            </a:r>
            <a:r>
              <a:rPr lang="fr-FR" sz="2200" baseline="30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er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travail : interface 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Eskape.Service.CTI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/ ELIOT :</a:t>
            </a: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1084118" y="2719805"/>
            <a:ext cx="6729846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457200">
              <a:lnSpc>
                <a:spcPct val="250000"/>
              </a:lnSpc>
              <a:buAutoNum type="arabicPeriod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Tri des évènements utiles</a:t>
            </a:r>
          </a:p>
          <a:p>
            <a:pPr marL="800100" lvl="1" indent="-457200">
              <a:lnSpc>
                <a:spcPct val="250000"/>
              </a:lnSpc>
              <a:buAutoNum type="arabicPeriod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Définition de méthodes d’écoutes de ces évènements</a:t>
            </a:r>
          </a:p>
          <a:p>
            <a:pPr marL="342900" lvl="1" indent="0">
              <a:lnSpc>
                <a:spcPct val="250000"/>
              </a:lnSpc>
              <a:buNone/>
            </a:pP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800100" lvl="1" indent="-457200">
              <a:lnSpc>
                <a:spcPct val="250000"/>
              </a:lnSpc>
              <a:buAutoNum type="arabicPeriod"/>
            </a:pP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250000"/>
              </a:lnSpc>
              <a:buNone/>
            </a:pPr>
            <a:endParaRPr lang="fr-FR" sz="17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250000"/>
              </a:lnSpc>
              <a:buNone/>
            </a:pP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56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904010" y="1901879"/>
            <a:ext cx="7886700" cy="105396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Eurostile" panose="020B0504020202050204" pitchFamily="34" charset="0"/>
              </a:rPr>
              <a:t>Définition d’un fichier de configuration XML :</a:t>
            </a: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1073727" y="2553550"/>
            <a:ext cx="6948055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Lu par le service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Contient le paramétrage des connexions établies par le service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Evite la recompilation en cas de modification de paramétrage</a:t>
            </a:r>
          </a:p>
        </p:txBody>
      </p:sp>
    </p:spTree>
    <p:extLst>
      <p:ext uri="{BB962C8B-B14F-4D97-AF65-F5344CB8AC3E}">
        <p14:creationId xmlns:p14="http://schemas.microsoft.com/office/powerpoint/2010/main" val="270048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085851" y="1852150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2</a:t>
            </a:r>
            <a:r>
              <a:rPr lang="fr-FR" sz="2200" baseline="30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ème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travail : Communication avec Dynamics 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Nav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:</a:t>
            </a: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1404505" y="2379131"/>
            <a:ext cx="6729846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1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Par le biais d’un </a:t>
            </a:r>
            <a:r>
              <a:rPr lang="fr-FR" sz="2100" b="1" dirty="0" err="1" smtClean="0">
                <a:solidFill>
                  <a:srgbClr val="FF0000"/>
                </a:solidFill>
                <a:latin typeface="Eurostile" panose="020B0504020202050204" pitchFamily="34" charset="0"/>
              </a:rPr>
              <a:t>WebService</a:t>
            </a:r>
            <a:r>
              <a:rPr lang="fr-FR" sz="2100" b="1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 SOAP</a:t>
            </a:r>
          </a:p>
          <a:p>
            <a:pPr lvl="2">
              <a:lnSpc>
                <a:spcPct val="250000"/>
              </a:lnSpc>
              <a:buFont typeface="Wingdings" panose="05000000000000000000" pitchFamily="2" charset="2"/>
              <a:buChar char="à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Distribué par Dynamics </a:t>
            </a:r>
            <a:r>
              <a:rPr lang="fr-FR" sz="1900" dirty="0" err="1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Nav</a:t>
            </a: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via un </a:t>
            </a:r>
            <a:r>
              <a:rPr lang="fr-FR" sz="1900" b="1" dirty="0" err="1" smtClean="0">
                <a:solidFill>
                  <a:srgbClr val="FF0000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codeunit</a:t>
            </a:r>
            <a:r>
              <a:rPr lang="fr-FR" sz="1900" b="1" dirty="0" smtClean="0">
                <a:solidFill>
                  <a:srgbClr val="FF0000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</a:t>
            </a: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  <a:p>
            <a:pPr marL="800100" lvl="1" indent="-457200">
              <a:lnSpc>
                <a:spcPct val="250000"/>
              </a:lnSpc>
              <a:buAutoNum type="arabicPeriod"/>
            </a:pPr>
            <a:endParaRPr lang="fr-FR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250000"/>
              </a:lnSpc>
              <a:buNone/>
            </a:pPr>
            <a:endParaRPr lang="fr-FR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342900" lvl="1" indent="0">
              <a:lnSpc>
                <a:spcPct val="250000"/>
              </a:lnSpc>
              <a:buNone/>
            </a:pPr>
            <a:endParaRPr lang="fr-FR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377125"/>
            <a:ext cx="6972300" cy="225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7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904010" y="1901879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Développement sous l’ERP Microsoft Dynamics 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Nav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:</a:t>
            </a: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1063336" y="2511987"/>
            <a:ext cx="6948055" cy="2589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 Instanciation d’objets défini de base dans l’ERP :</a:t>
            </a:r>
          </a:p>
          <a:p>
            <a:pPr marL="1028700" lvl="3" indent="0">
              <a:lnSpc>
                <a:spcPct val="150000"/>
              </a:lnSpc>
              <a:buNone/>
            </a:pPr>
            <a:r>
              <a:rPr lang="fr-FR" sz="175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</a:t>
            </a:r>
            <a:r>
              <a:rPr lang="fr-FR" sz="175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Table </a:t>
            </a:r>
          </a:p>
          <a:p>
            <a:pPr marL="1028700" lvl="3" indent="0">
              <a:lnSpc>
                <a:spcPct val="150000"/>
              </a:lnSpc>
              <a:buNone/>
            </a:pPr>
            <a:r>
              <a:rPr lang="fr-FR" sz="175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</a:t>
            </a:r>
            <a:r>
              <a:rPr lang="fr-FR" sz="175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Form</a:t>
            </a:r>
            <a:endParaRPr lang="fr-FR" sz="175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1028700" lvl="3" indent="0">
              <a:lnSpc>
                <a:spcPct val="150000"/>
              </a:lnSpc>
              <a:buNone/>
            </a:pPr>
            <a:r>
              <a:rPr lang="fr-FR" sz="175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</a:t>
            </a:r>
            <a:r>
              <a:rPr lang="fr-FR" sz="175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Codeunit</a:t>
            </a:r>
            <a:endParaRPr lang="fr-FR" sz="175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fr-FR" sz="175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…</a:t>
            </a:r>
          </a:p>
          <a:p>
            <a:pPr marL="1028700" lvl="3" indent="0">
              <a:lnSpc>
                <a:spcPct val="150000"/>
              </a:lnSpc>
              <a:buNone/>
            </a:pPr>
            <a:endParaRPr lang="fr-FR" sz="175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1028700" lvl="3" indent="0">
              <a:lnSpc>
                <a:spcPct val="150000"/>
              </a:lnSpc>
              <a:buNone/>
            </a:pPr>
            <a:endParaRPr lang="fr-FR" sz="175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772216" y="5308448"/>
            <a:ext cx="670676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2" indent="-342900">
              <a:buFont typeface="Wingdings" panose="05000000000000000000" pitchFamily="2" charset="2"/>
              <a:buChar char="§"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Langage : C/AL  (Client/server Application </a:t>
            </a:r>
            <a:r>
              <a:rPr lang="fr-FR" sz="19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Language</a:t>
            </a: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)</a:t>
            </a:r>
            <a:endParaRPr lang="fr-FR" sz="19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endParaRPr lang="fr-FR" dirty="0"/>
          </a:p>
        </p:txBody>
      </p:sp>
      <p:pic>
        <p:nvPicPr>
          <p:cNvPr id="1026" name="Picture 2" descr="http://www.eozys.be/uploads/images/Microsoft-dynamics-NAV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138" y="522087"/>
            <a:ext cx="1629555" cy="117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63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392381" y="1711714"/>
            <a:ext cx="3844636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Chronologie Web Service :</a:t>
            </a:r>
          </a:p>
        </p:txBody>
      </p:sp>
      <p:sp>
        <p:nvSpPr>
          <p:cNvPr id="7" name="Cylindre 6"/>
          <p:cNvSpPr/>
          <p:nvPr/>
        </p:nvSpPr>
        <p:spPr>
          <a:xfrm>
            <a:off x="5418861" y="2806191"/>
            <a:ext cx="815684" cy="1056140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Table</a:t>
            </a:r>
          </a:p>
          <a:p>
            <a:pPr algn="ctr"/>
            <a:r>
              <a:rPr lang="fr-FR" dirty="0" err="1" smtClean="0"/>
              <a:t>CtiCall</a:t>
            </a:r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1620984" y="2926812"/>
            <a:ext cx="1350815" cy="814898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Service</a:t>
            </a:r>
          </a:p>
          <a:p>
            <a:pPr algn="ctr"/>
            <a:r>
              <a:rPr lang="fr-FR" dirty="0" smtClean="0">
                <a:solidFill>
                  <a:srgbClr val="FF0000"/>
                </a:solidFill>
              </a:rPr>
              <a:t>Windows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Espace réservé du contenu 30"/>
          <p:cNvSpPr txBox="1">
            <a:spLocks/>
          </p:cNvSpPr>
          <p:nvPr/>
        </p:nvSpPr>
        <p:spPr>
          <a:xfrm>
            <a:off x="740350" y="2924155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3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1.</a:t>
            </a:r>
          </a:p>
        </p:txBody>
      </p:sp>
      <p:cxnSp>
        <p:nvCxnSpPr>
          <p:cNvPr id="14" name="Connecteur droit avec flèche 13"/>
          <p:cNvCxnSpPr>
            <a:stCxn id="11" idx="3"/>
            <a:endCxn id="7" idx="2"/>
          </p:cNvCxnSpPr>
          <p:nvPr/>
        </p:nvCxnSpPr>
        <p:spPr>
          <a:xfrm>
            <a:off x="2971799" y="3334261"/>
            <a:ext cx="2447062" cy="0"/>
          </a:xfrm>
          <a:prstGeom prst="straightConnector1">
            <a:avLst/>
          </a:prstGeom>
          <a:ln w="38100">
            <a:solidFill>
              <a:srgbClr val="61953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7117763" y="2244076"/>
            <a:ext cx="1509287" cy="83099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Enregistrement données de communication</a:t>
            </a:r>
            <a:endParaRPr lang="fr-FR" sz="1600" dirty="0"/>
          </a:p>
        </p:txBody>
      </p:sp>
      <p:sp>
        <p:nvSpPr>
          <p:cNvPr id="18" name="ZoneTexte 17"/>
          <p:cNvSpPr txBox="1"/>
          <p:nvPr/>
        </p:nvSpPr>
        <p:spPr>
          <a:xfrm>
            <a:off x="3303009" y="2985893"/>
            <a:ext cx="1784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solidFill>
                  <a:schemeClr val="accent6">
                    <a:lumMod val="50000"/>
                  </a:schemeClr>
                </a:solidFill>
              </a:rPr>
              <a:t>Appel </a:t>
            </a:r>
            <a:r>
              <a:rPr lang="fr-FR" sz="1600" dirty="0" err="1" smtClean="0">
                <a:solidFill>
                  <a:schemeClr val="accent6">
                    <a:lumMod val="50000"/>
                  </a:schemeClr>
                </a:solidFill>
              </a:rPr>
              <a:t>WebService</a:t>
            </a:r>
            <a:endParaRPr lang="fr-FR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7117762" y="3657922"/>
            <a:ext cx="1509288" cy="58477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Identification contact</a:t>
            </a:r>
            <a:endParaRPr lang="fr-FR" sz="1600" dirty="0"/>
          </a:p>
        </p:txBody>
      </p:sp>
      <p:cxnSp>
        <p:nvCxnSpPr>
          <p:cNvPr id="24" name="Connecteur droit 23"/>
          <p:cNvCxnSpPr>
            <a:stCxn id="7" idx="4"/>
            <a:endCxn id="15" idx="1"/>
          </p:cNvCxnSpPr>
          <p:nvPr/>
        </p:nvCxnSpPr>
        <p:spPr>
          <a:xfrm flipV="1">
            <a:off x="6234545" y="2659575"/>
            <a:ext cx="883218" cy="674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/>
          <p:cNvCxnSpPr>
            <a:stCxn id="7" idx="4"/>
            <a:endCxn id="19" idx="1"/>
          </p:cNvCxnSpPr>
          <p:nvPr/>
        </p:nvCxnSpPr>
        <p:spPr>
          <a:xfrm>
            <a:off x="6234545" y="3334261"/>
            <a:ext cx="883217" cy="6160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Espace réservé du contenu 30"/>
          <p:cNvSpPr txBox="1">
            <a:spLocks/>
          </p:cNvSpPr>
          <p:nvPr/>
        </p:nvSpPr>
        <p:spPr>
          <a:xfrm>
            <a:off x="740350" y="5080515"/>
            <a:ext cx="652031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3000" dirty="0">
                <a:solidFill>
                  <a:srgbClr val="004492"/>
                </a:solidFill>
                <a:latin typeface="Eurostile" panose="020B0504020202050204" pitchFamily="34" charset="0"/>
              </a:rPr>
              <a:t>2</a:t>
            </a:r>
            <a:r>
              <a:rPr lang="fr-FR" sz="3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17741" y="5080515"/>
            <a:ext cx="1350815" cy="814898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Service</a:t>
            </a:r>
          </a:p>
          <a:p>
            <a:pPr algn="ctr"/>
            <a:r>
              <a:rPr lang="fr-FR" dirty="0" smtClean="0">
                <a:solidFill>
                  <a:srgbClr val="FF0000"/>
                </a:solidFill>
              </a:rPr>
              <a:t>Windows</a:t>
            </a:r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52" name="Connecteur droit avec flèche 51"/>
          <p:cNvCxnSpPr/>
          <p:nvPr/>
        </p:nvCxnSpPr>
        <p:spPr>
          <a:xfrm>
            <a:off x="2978947" y="5290537"/>
            <a:ext cx="2447062" cy="0"/>
          </a:xfrm>
          <a:prstGeom prst="straightConnector1">
            <a:avLst/>
          </a:prstGeom>
          <a:ln w="38100">
            <a:solidFill>
              <a:srgbClr val="61953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ZoneTexte 52"/>
          <p:cNvSpPr txBox="1"/>
          <p:nvPr/>
        </p:nvSpPr>
        <p:spPr>
          <a:xfrm>
            <a:off x="3310157" y="4951983"/>
            <a:ext cx="1784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solidFill>
                  <a:schemeClr val="accent6">
                    <a:lumMod val="50000"/>
                  </a:schemeClr>
                </a:solidFill>
              </a:rPr>
              <a:t>Appel </a:t>
            </a:r>
            <a:r>
              <a:rPr lang="fr-FR" sz="1600" dirty="0" err="1" smtClean="0">
                <a:solidFill>
                  <a:schemeClr val="accent6">
                    <a:lumMod val="50000"/>
                  </a:schemeClr>
                </a:solidFill>
              </a:rPr>
              <a:t>WebService</a:t>
            </a:r>
            <a:endParaRPr lang="fr-FR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Cylindre 53"/>
          <p:cNvSpPr/>
          <p:nvPr/>
        </p:nvSpPr>
        <p:spPr>
          <a:xfrm>
            <a:off x="5426009" y="4927225"/>
            <a:ext cx="815684" cy="1056140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Table</a:t>
            </a:r>
          </a:p>
          <a:p>
            <a:pPr algn="ctr"/>
            <a:r>
              <a:rPr lang="fr-FR" dirty="0" err="1" smtClean="0"/>
              <a:t>CtiCall</a:t>
            </a:r>
            <a:endParaRPr lang="fr-FR" dirty="0"/>
          </a:p>
        </p:txBody>
      </p:sp>
      <p:sp>
        <p:nvSpPr>
          <p:cNvPr id="55" name="ZoneTexte 54"/>
          <p:cNvSpPr txBox="1"/>
          <p:nvPr/>
        </p:nvSpPr>
        <p:spPr>
          <a:xfrm>
            <a:off x="7117762" y="5162907"/>
            <a:ext cx="1509288" cy="58477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Lecture de l’identification</a:t>
            </a:r>
            <a:endParaRPr lang="fr-FR" sz="1600" dirty="0"/>
          </a:p>
        </p:txBody>
      </p:sp>
      <p:cxnSp>
        <p:nvCxnSpPr>
          <p:cNvPr id="56" name="Connecteur droit 55"/>
          <p:cNvCxnSpPr>
            <a:stCxn id="54" idx="4"/>
            <a:endCxn id="55" idx="1"/>
          </p:cNvCxnSpPr>
          <p:nvPr/>
        </p:nvCxnSpPr>
        <p:spPr>
          <a:xfrm>
            <a:off x="6241693" y="5455295"/>
            <a:ext cx="8760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/>
          <p:nvPr/>
        </p:nvCxnSpPr>
        <p:spPr>
          <a:xfrm flipH="1">
            <a:off x="2978947" y="5607496"/>
            <a:ext cx="2436671" cy="0"/>
          </a:xfrm>
          <a:prstGeom prst="straightConnector1">
            <a:avLst/>
          </a:prstGeom>
          <a:ln w="38100">
            <a:solidFill>
              <a:srgbClr val="61953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3227681" y="5653849"/>
            <a:ext cx="1949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solidFill>
                  <a:schemeClr val="accent6">
                    <a:lumMod val="50000"/>
                  </a:schemeClr>
                </a:solidFill>
              </a:rPr>
              <a:t>Réponse </a:t>
            </a:r>
            <a:r>
              <a:rPr lang="fr-FR" sz="1600" dirty="0" err="1" smtClean="0">
                <a:solidFill>
                  <a:schemeClr val="accent6">
                    <a:lumMod val="50000"/>
                  </a:schemeClr>
                </a:solidFill>
              </a:rPr>
              <a:t>WebService</a:t>
            </a:r>
            <a:endParaRPr lang="fr-FR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9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326572" y="1797627"/>
            <a:ext cx="6785263" cy="476942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Définition des méthodes du Web Service </a:t>
            </a:r>
            <a:endParaRPr lang="fr-FR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200000"/>
              </a:lnSpc>
            </a:pPr>
            <a:r>
              <a:rPr lang="fr-FR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Appel </a:t>
            </a:r>
            <a:r>
              <a:rPr lang="fr-FR" dirty="0">
                <a:solidFill>
                  <a:srgbClr val="004492"/>
                </a:solidFill>
                <a:latin typeface="Eurostile" panose="020B0504020202050204" pitchFamily="34" charset="0"/>
              </a:rPr>
              <a:t>du Web Service dans les méthodes </a:t>
            </a:r>
            <a:r>
              <a:rPr lang="fr-FR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de </a:t>
            </a:r>
            <a:r>
              <a:rPr lang="fr-FR" dirty="0">
                <a:solidFill>
                  <a:srgbClr val="004492"/>
                </a:solidFill>
                <a:latin typeface="Eurostile" panose="020B0504020202050204" pitchFamily="34" charset="0"/>
              </a:rPr>
              <a:t>gestion d’évènements :</a:t>
            </a:r>
          </a:p>
          <a:p>
            <a:pPr lvl="3">
              <a:lnSpc>
                <a:spcPct val="200000"/>
              </a:lnSpc>
            </a:pPr>
            <a:r>
              <a:rPr lang="fr-FR" sz="1900" dirty="0" err="1">
                <a:solidFill>
                  <a:srgbClr val="004492"/>
                </a:solidFill>
                <a:latin typeface="Eurostile" panose="020B0504020202050204" pitchFamily="34" charset="0"/>
              </a:rPr>
              <a:t>Init</a:t>
            </a:r>
            <a:r>
              <a:rPr lang="fr-FR" sz="1900" dirty="0">
                <a:solidFill>
                  <a:srgbClr val="004492"/>
                </a:solidFill>
                <a:latin typeface="Eurostile" panose="020B0504020202050204" pitchFamily="34" charset="0"/>
              </a:rPr>
              <a:t> : </a:t>
            </a:r>
            <a:r>
              <a:rPr lang="fr-FR" sz="1900" b="1" dirty="0" err="1">
                <a:solidFill>
                  <a:srgbClr val="FF0000"/>
                </a:solidFill>
                <a:latin typeface="Eurostile" panose="020B0504020202050204" pitchFamily="34" charset="0"/>
              </a:rPr>
              <a:t>IdentificationAsked</a:t>
            </a:r>
            <a:endParaRPr lang="fr-FR" sz="1900" b="1" dirty="0">
              <a:solidFill>
                <a:srgbClr val="FF0000"/>
              </a:solidFill>
              <a:latin typeface="Eurostile" panose="020B0504020202050204" pitchFamily="34" charset="0"/>
            </a:endParaRPr>
          </a:p>
          <a:p>
            <a:pPr lvl="3">
              <a:lnSpc>
                <a:spcPct val="200000"/>
              </a:lnSpc>
            </a:pPr>
            <a:r>
              <a:rPr lang="fr-FR" sz="1900" dirty="0">
                <a:solidFill>
                  <a:srgbClr val="004492"/>
                </a:solidFill>
                <a:latin typeface="Eurostile" panose="020B0504020202050204" pitchFamily="34" charset="0"/>
              </a:rPr>
              <a:t>Begin : </a:t>
            </a:r>
            <a:r>
              <a:rPr lang="fr-FR" sz="1900" b="1" dirty="0" err="1">
                <a:solidFill>
                  <a:srgbClr val="FF0000"/>
                </a:solidFill>
                <a:latin typeface="Eurostile" panose="020B0504020202050204" pitchFamily="34" charset="0"/>
              </a:rPr>
              <a:t>Established</a:t>
            </a:r>
            <a:endParaRPr lang="fr-FR" sz="1900" b="1" dirty="0">
              <a:solidFill>
                <a:srgbClr val="FF0000"/>
              </a:solidFill>
              <a:latin typeface="Eurostile" panose="020B0504020202050204" pitchFamily="34" charset="0"/>
            </a:endParaRPr>
          </a:p>
          <a:p>
            <a:pPr lvl="3">
              <a:lnSpc>
                <a:spcPct val="200000"/>
              </a:lnSpc>
            </a:pPr>
            <a:r>
              <a:rPr lang="fr-FR" sz="1900" dirty="0">
                <a:solidFill>
                  <a:srgbClr val="004492"/>
                </a:solidFill>
                <a:latin typeface="Eurostile" panose="020B0504020202050204" pitchFamily="34" charset="0"/>
              </a:rPr>
              <a:t>End : </a:t>
            </a:r>
            <a:r>
              <a:rPr lang="fr-FR" sz="1900" b="1" dirty="0" err="1">
                <a:solidFill>
                  <a:srgbClr val="FF0000"/>
                </a:solidFill>
                <a:latin typeface="Eurostile" panose="020B0504020202050204" pitchFamily="34" charset="0"/>
              </a:rPr>
              <a:t>EndOfCall</a:t>
            </a:r>
            <a:endParaRPr lang="fr-FR" sz="1900" b="1" dirty="0">
              <a:solidFill>
                <a:srgbClr val="FF0000"/>
              </a:solidFill>
              <a:latin typeface="Eurostile" panose="020B0504020202050204" pitchFamily="34" charset="0"/>
            </a:endParaRPr>
          </a:p>
          <a:p>
            <a:pPr>
              <a:lnSpc>
                <a:spcPct val="150000"/>
              </a:lnSpc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294409" y="3135442"/>
            <a:ext cx="8849591" cy="4179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fr-FR" sz="1900" b="1" dirty="0" smtClean="0">
              <a:solidFill>
                <a:srgbClr val="FF0000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19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000991" y="2138258"/>
            <a:ext cx="7886700" cy="7374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Traitement des transferts d’appels :</a:t>
            </a: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658089" y="2873141"/>
            <a:ext cx="8849591" cy="3379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Scénario d’appel :</a:t>
            </a:r>
          </a:p>
          <a:p>
            <a:pPr marL="1028700" lvl="3" indent="0">
              <a:lnSpc>
                <a:spcPct val="200000"/>
              </a:lnSpc>
              <a:buNone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1. Contact    	 Agent A</a:t>
            </a:r>
          </a:p>
          <a:p>
            <a:pPr marL="1028700" lvl="3" indent="0">
              <a:lnSpc>
                <a:spcPct val="200000"/>
              </a:lnSpc>
              <a:buNone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2. Agent A 	 Agent B</a:t>
            </a:r>
          </a:p>
          <a:p>
            <a:pPr marL="1028700" lvl="3" indent="0">
              <a:lnSpc>
                <a:spcPct val="200000"/>
              </a:lnSpc>
              <a:buNone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3. Agent B 	 Contact</a:t>
            </a:r>
          </a:p>
          <a:p>
            <a:pPr marL="1028700" lvl="3" indent="0">
              <a:lnSpc>
                <a:spcPct val="200000"/>
              </a:lnSpc>
              <a:buNone/>
            </a:pP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1028700" lvl="3" indent="0">
              <a:lnSpc>
                <a:spcPct val="200000"/>
              </a:lnSpc>
              <a:buNone/>
            </a:pPr>
            <a:endParaRPr lang="fr-FR" sz="1700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fr-FR" sz="1900" b="1" dirty="0" smtClean="0">
              <a:solidFill>
                <a:srgbClr val="FF0000"/>
              </a:solidFill>
              <a:latin typeface="Eurostile" panose="020B0504020202050204" pitchFamily="34" charset="0"/>
            </a:endParaRPr>
          </a:p>
        </p:txBody>
      </p:sp>
      <p:sp>
        <p:nvSpPr>
          <p:cNvPr id="3" name="Double flèche horizontale 2"/>
          <p:cNvSpPr/>
          <p:nvPr/>
        </p:nvSpPr>
        <p:spPr>
          <a:xfrm>
            <a:off x="3026082" y="3838134"/>
            <a:ext cx="393691" cy="161882"/>
          </a:xfrm>
          <a:prstGeom prst="leftRightArrow">
            <a:avLst/>
          </a:prstGeom>
          <a:solidFill>
            <a:srgbClr val="004492"/>
          </a:solidFill>
          <a:ln>
            <a:solidFill>
              <a:srgbClr val="004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7" name="Double flèche horizontale 6"/>
          <p:cNvSpPr/>
          <p:nvPr/>
        </p:nvSpPr>
        <p:spPr>
          <a:xfrm>
            <a:off x="3026081" y="4482028"/>
            <a:ext cx="393691" cy="161882"/>
          </a:xfrm>
          <a:prstGeom prst="leftRightArrow">
            <a:avLst/>
          </a:prstGeom>
          <a:solidFill>
            <a:srgbClr val="004492"/>
          </a:solidFill>
          <a:ln>
            <a:solidFill>
              <a:srgbClr val="004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8" name="Double flèche horizontale 7"/>
          <p:cNvSpPr/>
          <p:nvPr/>
        </p:nvSpPr>
        <p:spPr>
          <a:xfrm>
            <a:off x="3026080" y="5125922"/>
            <a:ext cx="393691" cy="161882"/>
          </a:xfrm>
          <a:prstGeom prst="leftRightArrow">
            <a:avLst/>
          </a:prstGeom>
          <a:solidFill>
            <a:srgbClr val="004492"/>
          </a:solidFill>
          <a:ln>
            <a:solidFill>
              <a:srgbClr val="004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52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000991" y="2138258"/>
            <a:ext cx="7886700" cy="7374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Traitement des transferts d’appels :</a:t>
            </a: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658089" y="2873141"/>
            <a:ext cx="8849591" cy="3379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Initialise 3 enregistrements dans la table </a:t>
            </a:r>
            <a:r>
              <a:rPr lang="fr-FR" sz="20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CtiCall</a:t>
            </a: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Contrainte : </a:t>
            </a:r>
          </a:p>
          <a:p>
            <a:pPr marL="685800" lvl="2" indent="0">
              <a:lnSpc>
                <a:spcPct val="200000"/>
              </a:lnSpc>
              <a:buNone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	 </a:t>
            </a: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1 seul enregistrement</a:t>
            </a: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1028700" lvl="3" indent="0">
              <a:lnSpc>
                <a:spcPct val="200000"/>
              </a:lnSpc>
              <a:buNone/>
            </a:pP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	</a:t>
            </a:r>
            <a:r>
              <a:rPr lang="fr-FR" sz="19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  Conservation de toutes les informations</a:t>
            </a: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1028700" lvl="3" indent="0">
              <a:lnSpc>
                <a:spcPct val="200000"/>
              </a:lnSpc>
              <a:buNone/>
            </a:pPr>
            <a:endParaRPr lang="fr-FR" sz="1700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fr-FR" sz="1900" b="1" dirty="0" smtClean="0">
              <a:solidFill>
                <a:srgbClr val="FF0000"/>
              </a:solidFill>
              <a:latin typeface="Eurostile" panose="020B0504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99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000991" y="2138258"/>
            <a:ext cx="7886700" cy="7374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Identification des appels :</a:t>
            </a: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658089" y="2873141"/>
            <a:ext cx="8849591" cy="3379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Directement après enregistrement dans la table </a:t>
            </a:r>
            <a:r>
              <a:rPr lang="fr-FR" sz="20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CtiCall</a:t>
            </a: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685800" lvl="2" indent="0">
              <a:lnSpc>
                <a:spcPct val="200000"/>
              </a:lnSpc>
              <a:buNone/>
            </a:pPr>
            <a:endParaRPr lang="fr-FR" sz="19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 marL="1028700" lvl="3" indent="0">
              <a:lnSpc>
                <a:spcPct val="200000"/>
              </a:lnSpc>
              <a:buNone/>
            </a:pPr>
            <a:endParaRPr lang="fr-FR" sz="1700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fr-FR" sz="1900" b="1" dirty="0" smtClean="0">
              <a:solidFill>
                <a:srgbClr val="FF0000"/>
              </a:solidFill>
              <a:latin typeface="Eurostile" panose="020B050402020205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09" y="3987561"/>
            <a:ext cx="4296375" cy="51442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09" y="5366189"/>
            <a:ext cx="4267796" cy="495369"/>
          </a:xfrm>
          <a:prstGeom prst="rect">
            <a:avLst/>
          </a:prstGeom>
        </p:spPr>
      </p:pic>
      <p:sp>
        <p:nvSpPr>
          <p:cNvPr id="7" name="Espace réservé du contenu 30"/>
          <p:cNvSpPr txBox="1">
            <a:spLocks/>
          </p:cNvSpPr>
          <p:nvPr/>
        </p:nvSpPr>
        <p:spPr>
          <a:xfrm>
            <a:off x="5538589" y="3876066"/>
            <a:ext cx="2255553" cy="737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2000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Contact identifié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5538589" y="5348361"/>
            <a:ext cx="2255553" cy="737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2000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Contact inconnu</a:t>
            </a:r>
          </a:p>
        </p:txBody>
      </p:sp>
    </p:spTree>
    <p:extLst>
      <p:ext uri="{BB962C8B-B14F-4D97-AF65-F5344CB8AC3E}">
        <p14:creationId xmlns:p14="http://schemas.microsoft.com/office/powerpoint/2010/main" val="20622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6" name="Espace réservé du contenu 30"/>
          <p:cNvSpPr>
            <a:spLocks noGrp="1"/>
          </p:cNvSpPr>
          <p:nvPr>
            <p:ph idx="1"/>
          </p:nvPr>
        </p:nvSpPr>
        <p:spPr>
          <a:xfrm>
            <a:off x="514351" y="2721349"/>
            <a:ext cx="4433454" cy="20169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Interface de modification du fichier de configuration :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766" y="210711"/>
            <a:ext cx="3408994" cy="65203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5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6" name="Espace réservé du contenu 30"/>
          <p:cNvSpPr>
            <a:spLocks noGrp="1"/>
          </p:cNvSpPr>
          <p:nvPr>
            <p:ph idx="1"/>
          </p:nvPr>
        </p:nvSpPr>
        <p:spPr>
          <a:xfrm>
            <a:off x="1200149" y="1757432"/>
            <a:ext cx="8359485" cy="8219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Sécurisation du fichier de configuration XML</a:t>
            </a: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1670338" y="2579383"/>
            <a:ext cx="8359485" cy="386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Outils C# : </a:t>
            </a:r>
            <a:r>
              <a:rPr lang="fr-FR" sz="2000" dirty="0" err="1" smtClean="0">
                <a:solidFill>
                  <a:srgbClr val="004492"/>
                </a:solidFill>
                <a:latin typeface="Eurostile" panose="020B0504020202050204" pitchFamily="34" charset="0"/>
              </a:rPr>
              <a:t>System.Security.Cryptography</a:t>
            </a: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Clé de chiffrement liée à la machine physique</a:t>
            </a:r>
          </a:p>
          <a:p>
            <a:pPr marL="0" indent="0">
              <a:lnSpc>
                <a:spcPct val="200000"/>
              </a:lnSpc>
              <a:buNone/>
            </a:pPr>
            <a:endParaRPr lang="fr-FR" sz="5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Mise en place d’une bibliothèque de chiffrement :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982190" y="5413663"/>
            <a:ext cx="2867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fr-FR" sz="2200" b="1" dirty="0">
                <a:solidFill>
                  <a:srgbClr val="FF0000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EncryptionTools.dll</a:t>
            </a:r>
            <a:endParaRPr lang="fr-FR" sz="2200" b="1" dirty="0">
              <a:solidFill>
                <a:srgbClr val="FF0000"/>
              </a:solidFill>
              <a:latin typeface="Eurostile" panose="020B0504020202050204" pitchFamily="34" charset="0"/>
            </a:endParaRPr>
          </a:p>
          <a:p>
            <a:pPr algn="ctr"/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36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6" name="Espace réservé du contenu 30"/>
          <p:cNvSpPr>
            <a:spLocks noGrp="1"/>
          </p:cNvSpPr>
          <p:nvPr>
            <p:ph idx="1"/>
          </p:nvPr>
        </p:nvSpPr>
        <p:spPr>
          <a:xfrm>
            <a:off x="1200149" y="1705477"/>
            <a:ext cx="8359485" cy="8219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Création d’un installeur Windows :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571" y="2527428"/>
            <a:ext cx="4725059" cy="3877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520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6" name="Espace réservé du contenu 30"/>
          <p:cNvSpPr>
            <a:spLocks noGrp="1"/>
          </p:cNvSpPr>
          <p:nvPr>
            <p:ph idx="1"/>
          </p:nvPr>
        </p:nvSpPr>
        <p:spPr>
          <a:xfrm>
            <a:off x="1200149" y="1705477"/>
            <a:ext cx="8359485" cy="8219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Documentation technique :</a:t>
            </a: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1649556" y="2371564"/>
            <a:ext cx="8359485" cy="386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Commentaires internes aux codes (C# et C/AL)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Explication du fonctionnement des méthodes</a:t>
            </a:r>
            <a:endParaRPr lang="fr-FR" sz="500" dirty="0" smtClean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Traçabilité du code :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00149" y="5288971"/>
            <a:ext cx="6600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  <a:latin typeface="Eurostile" panose="020B0504020202050204" pitchFamily="34" charset="0"/>
              </a:rPr>
              <a:t>// FA 03-05-2016  =&gt;  </a:t>
            </a:r>
            <a:r>
              <a:rPr lang="fr-FR" sz="2000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Module </a:t>
            </a:r>
            <a:r>
              <a:rPr lang="fr-FR" sz="2000" dirty="0">
                <a:solidFill>
                  <a:srgbClr val="FF0000"/>
                </a:solidFill>
                <a:latin typeface="Eurostile" panose="020B0504020202050204" pitchFamily="34" charset="0"/>
              </a:rPr>
              <a:t>: </a:t>
            </a:r>
            <a:r>
              <a:rPr lang="fr-FR" sz="2000" dirty="0" smtClean="0">
                <a:solidFill>
                  <a:srgbClr val="FF0000"/>
                </a:solidFill>
                <a:latin typeface="Eurostile" panose="020B0504020202050204" pitchFamily="34" charset="0"/>
              </a:rPr>
              <a:t>explication de la méthode</a:t>
            </a:r>
            <a:endParaRPr lang="fr-FR" sz="2000" dirty="0">
              <a:solidFill>
                <a:srgbClr val="FF0000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  <a:p>
            <a:endParaRPr lang="fr-F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07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Développement 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de la solution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6" name="Espace réservé du contenu 30"/>
          <p:cNvSpPr>
            <a:spLocks noGrp="1"/>
          </p:cNvSpPr>
          <p:nvPr>
            <p:ph idx="1"/>
          </p:nvPr>
        </p:nvSpPr>
        <p:spPr>
          <a:xfrm>
            <a:off x="1231322" y="1840560"/>
            <a:ext cx="8359485" cy="8219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Documentation utilisateur :</a:t>
            </a: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1971674" y="2402737"/>
            <a:ext cx="8359485" cy="38629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Présentation de la solution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Eurostile" panose="020B0504020202050204" pitchFamily="34" charset="0"/>
              </a:rPr>
              <a:t>Installation de la solution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Informations complémentaires :</a:t>
            </a:r>
          </a:p>
          <a:p>
            <a:pPr lvl="1">
              <a:lnSpc>
                <a:spcPct val="170000"/>
              </a:lnSpc>
            </a:pPr>
            <a:r>
              <a:rPr lang="fr-FR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Cycle de vie du service</a:t>
            </a:r>
          </a:p>
          <a:p>
            <a:pPr lvl="1">
              <a:lnSpc>
                <a:spcPct val="170000"/>
              </a:lnSpc>
            </a:pPr>
            <a:r>
              <a:rPr lang="fr-FR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Désinstallation</a:t>
            </a:r>
          </a:p>
          <a:p>
            <a:pPr lvl="1">
              <a:lnSpc>
                <a:spcPct val="170000"/>
              </a:lnSpc>
            </a:pPr>
            <a:r>
              <a:rPr lang="fr-FR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…</a:t>
            </a:r>
          </a:p>
          <a:p>
            <a:pPr marL="0" indent="0">
              <a:lnSpc>
                <a:spcPct val="250000"/>
              </a:lnSpc>
              <a:buNone/>
            </a:pPr>
            <a:endParaRPr lang="fr-FR" sz="2000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3463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10391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Bilan humain et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technique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1483301" y="2039055"/>
            <a:ext cx="8359485" cy="386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Expérience très enrichissante et motivante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Eurostile" panose="020B0504020202050204" pitchFamily="34" charset="0"/>
              </a:rPr>
              <a:t> 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Projet à la fois technique, complet et intéressant</a:t>
            </a:r>
            <a:endParaRPr lang="fr-FR" sz="2200" dirty="0">
              <a:solidFill>
                <a:srgbClr val="004492"/>
              </a:solidFill>
              <a:latin typeface="Eurostile" panose="020B0504020202050204" pitchFamily="34" charset="0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Mise en place des compétences acquises à l’</a:t>
            </a:r>
            <a:r>
              <a:rPr lang="fr-FR" sz="2200" dirty="0" err="1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lUT</a:t>
            </a: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Découverte de technologies spécifiques </a:t>
            </a:r>
          </a:p>
        </p:txBody>
      </p:sp>
    </p:spTree>
    <p:extLst>
      <p:ext uri="{BB962C8B-B14F-4D97-AF65-F5344CB8AC3E}">
        <p14:creationId xmlns:p14="http://schemas.microsoft.com/office/powerpoint/2010/main" val="15262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10391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Bilan humain et</a:t>
            </a:r>
            <a:b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</a:br>
            <a:r>
              <a:rPr lang="fr-FR" sz="3500" dirty="0" smtClean="0">
                <a:solidFill>
                  <a:schemeClr val="bg1"/>
                </a:solidFill>
                <a:latin typeface="Eurostile" panose="020B0504020202050204" pitchFamily="34" charset="0"/>
              </a:rPr>
              <a:t>technique</a:t>
            </a:r>
            <a:endParaRPr lang="fr-FR" sz="3500" dirty="0">
              <a:solidFill>
                <a:schemeClr val="bg1"/>
              </a:solidFill>
              <a:latin typeface="Eurostile" panose="020B0504020202050204" pitchFamily="34" charset="0"/>
            </a:endParaRP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1161183" y="1987101"/>
            <a:ext cx="8359485" cy="386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 Stage de 10 semaines : atout pour le parcours professionnel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Premier pas dans le monde professionnel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 </a:t>
            </a:r>
            <a:r>
              <a:rPr lang="fr-FR" sz="2200" dirty="0" smtClean="0">
                <a:solidFill>
                  <a:srgbClr val="004492"/>
                </a:solidFill>
                <a:latin typeface="Eurostile" panose="020B0504020202050204" pitchFamily="34" charset="0"/>
                <a:sym typeface="Wingdings" panose="05000000000000000000" pitchFamily="2" charset="2"/>
              </a:rPr>
              <a:t>Me conforte dans mon envie de me diriger vers les métiers du développement de projets informatiques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200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8429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30"/>
          <p:cNvSpPr txBox="1">
            <a:spLocks/>
          </p:cNvSpPr>
          <p:nvPr/>
        </p:nvSpPr>
        <p:spPr>
          <a:xfrm>
            <a:off x="0" y="2018273"/>
            <a:ext cx="9144000" cy="386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50000"/>
              </a:lnSpc>
              <a:buNone/>
            </a:pPr>
            <a:r>
              <a:rPr lang="fr-FR" sz="5500" b="1" dirty="0" smtClean="0">
                <a:solidFill>
                  <a:srgbClr val="004492"/>
                </a:solidFill>
                <a:latin typeface="Eurostile" panose="020B0504020202050204" pitchFamily="34" charset="0"/>
              </a:rPr>
              <a:t>Merci de votre attention</a:t>
            </a:r>
            <a:endParaRPr lang="fr-FR" sz="5500" b="1" dirty="0" smtClean="0">
              <a:solidFill>
                <a:srgbClr val="004492"/>
              </a:solidFill>
              <a:latin typeface="Eurostile" panose="020B050402020205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1860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1217</TotalTime>
  <Words>845</Words>
  <Application>Microsoft Office PowerPoint</Application>
  <PresentationFormat>Affichage à l'écran (4:3)</PresentationFormat>
  <Paragraphs>232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Eurostile</vt:lpstr>
      <vt:lpstr>Microsoft New Tai Lue</vt:lpstr>
      <vt:lpstr>Wingdings</vt:lpstr>
      <vt:lpstr>Wingdings 3</vt:lpstr>
      <vt:lpstr>Thème Office</vt:lpstr>
      <vt:lpstr>Soutenance de Stage</vt:lpstr>
      <vt:lpstr>Présentation PowerPoint</vt:lpstr>
      <vt:lpstr>Présentation PowerPoint</vt:lpstr>
      <vt:lpstr>Présentation PowerPoint</vt:lpstr>
      <vt:lpstr>Présentation de l’entreprise    Eskape</vt:lpstr>
      <vt:lpstr>Présentation de l’entreprise    Eskape</vt:lpstr>
      <vt:lpstr>Sujet du stage</vt:lpstr>
      <vt:lpstr>Sujet du stage</vt:lpstr>
      <vt:lpstr>Solution CTI Eliot</vt:lpstr>
      <vt:lpstr>Présentation PowerPoint</vt:lpstr>
      <vt:lpstr>Présentation PowerPoint</vt:lpstr>
      <vt:lpstr>Présentation PowerPoint</vt:lpstr>
      <vt:lpstr>Présentation PowerPoint</vt:lpstr>
      <vt:lpstr>Analyse des besoins</vt:lpstr>
      <vt:lpstr>Analyse des besoins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Bilan humain et technique</vt:lpstr>
      <vt:lpstr>Bilan humain et technique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Stage</dc:title>
  <dc:creator>Florent ALAPETITE</dc:creator>
  <cp:lastModifiedBy>Florent ALAPETITE</cp:lastModifiedBy>
  <cp:revision>111</cp:revision>
  <dcterms:created xsi:type="dcterms:W3CDTF">2016-05-18T12:20:50Z</dcterms:created>
  <dcterms:modified xsi:type="dcterms:W3CDTF">2016-06-17T13:02:35Z</dcterms:modified>
</cp:coreProperties>
</file>
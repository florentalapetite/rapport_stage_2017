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4" r:id="rId1"/>
  </p:sldMasterIdLst>
  <p:notesMasterIdLst>
    <p:notesMasterId r:id="rId37"/>
  </p:notesMasterIdLst>
  <p:sldIdLst>
    <p:sldId id="256" r:id="rId2"/>
    <p:sldId id="257" r:id="rId3"/>
    <p:sldId id="264" r:id="rId4"/>
    <p:sldId id="306" r:id="rId5"/>
    <p:sldId id="258" r:id="rId6"/>
    <p:sldId id="303" r:id="rId7"/>
    <p:sldId id="259" r:id="rId8"/>
    <p:sldId id="309" r:id="rId9"/>
    <p:sldId id="308" r:id="rId10"/>
    <p:sldId id="261" r:id="rId11"/>
    <p:sldId id="310" r:id="rId12"/>
    <p:sldId id="311" r:id="rId13"/>
    <p:sldId id="313" r:id="rId14"/>
    <p:sldId id="314" r:id="rId15"/>
    <p:sldId id="315" r:id="rId16"/>
    <p:sldId id="317" r:id="rId17"/>
    <p:sldId id="318" r:id="rId18"/>
    <p:sldId id="316" r:id="rId19"/>
    <p:sldId id="269" r:id="rId20"/>
    <p:sldId id="320" r:id="rId21"/>
    <p:sldId id="324" r:id="rId22"/>
    <p:sldId id="340" r:id="rId23"/>
    <p:sldId id="325" r:id="rId24"/>
    <p:sldId id="326" r:id="rId25"/>
    <p:sldId id="327" r:id="rId26"/>
    <p:sldId id="328" r:id="rId27"/>
    <p:sldId id="338" r:id="rId28"/>
    <p:sldId id="335" r:id="rId29"/>
    <p:sldId id="333" r:id="rId30"/>
    <p:sldId id="332" r:id="rId31"/>
    <p:sldId id="337" r:id="rId32"/>
    <p:sldId id="336" r:id="rId33"/>
    <p:sldId id="301" r:id="rId34"/>
    <p:sldId id="302" r:id="rId35"/>
    <p:sldId id="305" r:id="rId36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492"/>
    <a:srgbClr val="61953D"/>
    <a:srgbClr val="FFFFFF"/>
    <a:srgbClr val="005DC4"/>
    <a:srgbClr val="EE7B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364" autoAdjust="0"/>
    <p:restoredTop sz="94660"/>
  </p:normalViewPr>
  <p:slideViewPr>
    <p:cSldViewPr snapToGrid="0">
      <p:cViewPr varScale="1">
        <p:scale>
          <a:sx n="82" d="100"/>
          <a:sy n="82" d="100"/>
        </p:scale>
        <p:origin x="116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6B8603-F168-4293-AE02-38B8D4407F2C}" type="datetimeFigureOut">
              <a:rPr lang="fr-FR" smtClean="0"/>
              <a:t>29/05/2017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AEC8ED-71C6-4E6F-A673-1924D0F04E0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0495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A2356-E161-48C6-974A-E0A2B3A6E478}" type="datetime1">
              <a:rPr lang="fr-FR" smtClean="0"/>
              <a:t>29/05/2017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292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11CD0E-760D-4202-B0C1-E7D5CF6BAA62}" type="datetime1">
              <a:rPr lang="fr-FR" smtClean="0"/>
              <a:t>29/05/2017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646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4051D-05F2-4EFF-BAA5-5AA6BE41474E}" type="datetime1">
              <a:rPr lang="fr-FR" smtClean="0"/>
              <a:t>29/05/2017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01967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1E51B9-3C08-47E2-B3DF-FAB5241977DC}" type="datetime1">
              <a:rPr lang="fr-FR" smtClean="0"/>
              <a:t>29/05/2017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1718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C115EA-13E3-4C85-85DE-3CCFF6A9740B}" type="datetime1">
              <a:rPr lang="fr-FR" smtClean="0"/>
              <a:t>29/05/2017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3467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67F48-8778-44AB-9E95-D19A6ABDAF43}" type="datetime1">
              <a:rPr lang="fr-FR" smtClean="0"/>
              <a:t>29/05/2017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7532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3C7F81-61AA-4D25-8AB3-DE0D31697BD5}" type="datetime1">
              <a:rPr lang="fr-FR" smtClean="0"/>
              <a:t>29/05/2017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4100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0180-EC6F-44E5-B856-8B0D40ADA19F}" type="datetime1">
              <a:rPr lang="fr-FR" smtClean="0"/>
              <a:t>29/05/2017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5833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A1EF-175C-4684-858C-4DA625CE5717}" type="datetime1">
              <a:rPr lang="fr-FR" smtClean="0"/>
              <a:t>29/05/2017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9054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8A7D4D-F8D9-43CD-9DB2-FDB2C5CB8AE3}" type="datetime1">
              <a:rPr lang="fr-FR" smtClean="0"/>
              <a:t>29/05/2017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7066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BE3F5-26BA-4BFC-AFDC-3AC7FE105C9D}" type="datetime1">
              <a:rPr lang="fr-FR" smtClean="0"/>
              <a:t>29/05/2017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864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E6C54A-DA3B-4E4A-92D2-3E89B5E318E2}" type="datetime1">
              <a:rPr lang="fr-FR" smtClean="0"/>
              <a:t>29/05/2017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0AF257-D28F-495E-9E53-3BED59B8AA3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6885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0" y="1746868"/>
            <a:ext cx="9144000" cy="1646302"/>
          </a:xfrm>
        </p:spPr>
        <p:txBody>
          <a:bodyPr/>
          <a:lstStyle/>
          <a:p>
            <a:r>
              <a:rPr lang="fr-FR" sz="6000" b="1" dirty="0">
                <a:solidFill>
                  <a:srgbClr val="004492"/>
                </a:solidFill>
                <a:latin typeface="Eurostile-Roman" pitchFamily="2" charset="0"/>
              </a:rPr>
              <a:t>Soutenance de Stage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540327" y="3655828"/>
            <a:ext cx="8063345" cy="10968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fr-FR" sz="2500" dirty="0">
                <a:solidFill>
                  <a:srgbClr val="EE7B21"/>
                </a:solidFill>
                <a:latin typeface="Eurostile-Roman" pitchFamily="2" charset="0"/>
                <a:cs typeface="Microsoft New Tai Lue" panose="020B0502040204020203" pitchFamily="34" charset="0"/>
              </a:rPr>
              <a:t>Certification d’un vertical adapté aux besoins métiers des secteurs agricole, de la manutention et du levage.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77661" y="234648"/>
            <a:ext cx="271092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ALAPETITE</a:t>
            </a:r>
          </a:p>
          <a:p>
            <a:r>
              <a:rPr lang="fr-FR" sz="28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Florent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8945" y="255058"/>
            <a:ext cx="1995055" cy="1556260"/>
          </a:xfrm>
          <a:prstGeom prst="rect">
            <a:avLst/>
          </a:prstGeom>
        </p:spPr>
      </p:pic>
      <p:sp>
        <p:nvSpPr>
          <p:cNvPr id="8" name="ZoneTexte 7"/>
          <p:cNvSpPr txBox="1"/>
          <p:nvPr/>
        </p:nvSpPr>
        <p:spPr>
          <a:xfrm>
            <a:off x="2988588" y="6010996"/>
            <a:ext cx="38509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>
                <a:solidFill>
                  <a:srgbClr val="004492"/>
                </a:solidFill>
                <a:latin typeface="Eurostile-Roman" pitchFamily="2" charset="0"/>
                <a:cs typeface="Microsoft New Tai Lue" panose="020B0502040204020203" pitchFamily="34" charset="0"/>
              </a:rPr>
              <a:t>Année universitaire 2016 - 2017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0" y="1641196"/>
            <a:ext cx="9144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Maître de stage : M. DAGOIS</a:t>
            </a:r>
          </a:p>
          <a:p>
            <a:pPr algn="ctr"/>
            <a:r>
              <a:rPr lang="fr-FR" dirty="0">
                <a:solidFill>
                  <a:srgbClr val="005DC4"/>
                </a:solidFill>
                <a:latin typeface="Eurostile-Roman" pitchFamily="2" charset="0"/>
                <a:cs typeface="Microsoft New Tai Lue" panose="020B0502040204020203" pitchFamily="34" charset="0"/>
              </a:rPr>
              <a:t>Professeur référent : Mme. SERRANO ALVARADO</a:t>
            </a:r>
          </a:p>
        </p:txBody>
      </p:sp>
      <p:pic>
        <p:nvPicPr>
          <p:cNvPr id="10" name="Image 9" descr="http://www.irem.sciences.univ-nantes.fr/pictures/logoUFR.jpg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661" y="5451231"/>
            <a:ext cx="2242515" cy="111953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50456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19090" y="2090974"/>
            <a:ext cx="7886700" cy="4351338"/>
          </a:xfrm>
        </p:spPr>
        <p:txBody>
          <a:bodyPr>
            <a:normAutofit/>
          </a:bodyPr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Introduction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Présentation de l’entreprise </a:t>
            </a:r>
            <a:r>
              <a:rPr lang="fr-FR" sz="2600" dirty="0" err="1">
                <a:solidFill>
                  <a:srgbClr val="004492"/>
                </a:solidFill>
              </a:rPr>
              <a:t>Eskape</a:t>
            </a:r>
            <a:endParaRPr lang="fr-FR" sz="2600" dirty="0">
              <a:solidFill>
                <a:srgbClr val="004492"/>
              </a:solidFill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Sujet du stage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Développement de la solution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fr-FR" sz="2600" dirty="0">
                <a:solidFill>
                  <a:srgbClr val="004492"/>
                </a:solidFill>
              </a:rPr>
              <a:t>Bilan humain et technique</a:t>
            </a:r>
          </a:p>
        </p:txBody>
      </p:sp>
      <p:sp>
        <p:nvSpPr>
          <p:cNvPr id="4" name="ZoneTexte 3"/>
          <p:cNvSpPr txBox="1"/>
          <p:nvPr/>
        </p:nvSpPr>
        <p:spPr>
          <a:xfrm>
            <a:off x="215315" y="188776"/>
            <a:ext cx="3629321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Sommaire</a:t>
            </a:r>
          </a:p>
        </p:txBody>
      </p:sp>
    </p:spTree>
    <p:extLst>
      <p:ext uri="{BB962C8B-B14F-4D97-AF65-F5344CB8AC3E}">
        <p14:creationId xmlns:p14="http://schemas.microsoft.com/office/powerpoint/2010/main" val="15121303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117024" y="219493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Fin de Licence 3 Informatique : stage de 8 semaines</a:t>
            </a:r>
          </a:p>
          <a:p>
            <a:pPr marL="342900" lvl="1" indent="0">
              <a:lnSpc>
                <a:spcPct val="200000"/>
              </a:lnSpc>
              <a:buNone/>
            </a:pPr>
            <a:r>
              <a:rPr lang="fr-FR" sz="21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Partie intégrante de la formation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r>
              <a:rPr lang="fr-FR" sz="2400" dirty="0">
                <a:solidFill>
                  <a:srgbClr val="004492"/>
                </a:solidFill>
                <a:latin typeface="Calibri (Corps)"/>
              </a:rPr>
              <a:t>Réalisé au sein de l’entreprise </a:t>
            </a:r>
            <a:r>
              <a:rPr lang="fr-FR" sz="24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  <a:p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2632" y="4548981"/>
            <a:ext cx="2078736" cy="1621536"/>
          </a:xfrm>
          <a:prstGeom prst="rect">
            <a:avLst/>
          </a:prstGeom>
        </p:spPr>
      </p:pic>
      <p:sp>
        <p:nvSpPr>
          <p:cNvPr id="7" name="ZoneTexte 6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sp>
        <p:nvSpPr>
          <p:cNvPr id="8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24334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2"/>
          <p:cNvSpPr txBox="1">
            <a:spLocks/>
          </p:cNvSpPr>
          <p:nvPr/>
        </p:nvSpPr>
        <p:spPr>
          <a:xfrm>
            <a:off x="1018309" y="192477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</a:pPr>
            <a:r>
              <a:rPr lang="fr-FR" sz="2400" dirty="0">
                <a:solidFill>
                  <a:srgbClr val="004492"/>
                </a:solidFill>
                <a:latin typeface="Calibri (Corps)"/>
              </a:rPr>
              <a:t>Travail autour d’un projet majeur :</a:t>
            </a:r>
          </a:p>
          <a:p>
            <a:pPr lvl="1">
              <a:lnSpc>
                <a:spcPct val="250000"/>
              </a:lnSpc>
            </a:pPr>
            <a:r>
              <a:rPr lang="fr-FR" sz="2100" dirty="0">
                <a:solidFill>
                  <a:srgbClr val="004492"/>
                </a:solidFill>
                <a:latin typeface="Calibri (Corps)"/>
              </a:rPr>
              <a:t>Certification d’un vertical développé par </a:t>
            </a:r>
            <a:r>
              <a:rPr lang="fr-FR" sz="2100" dirty="0" err="1">
                <a:solidFill>
                  <a:srgbClr val="004492"/>
                </a:solidFill>
                <a:latin typeface="Calibri (Corps)"/>
              </a:rPr>
              <a:t>Eskape</a:t>
            </a:r>
            <a:endParaRPr lang="fr-FR" sz="21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250000"/>
              </a:lnSpc>
            </a:pPr>
            <a:endParaRPr lang="fr-FR" sz="24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ZoneTexte 5"/>
          <p:cNvSpPr txBox="1"/>
          <p:nvPr/>
        </p:nvSpPr>
        <p:spPr>
          <a:xfrm>
            <a:off x="182621" y="109957"/>
            <a:ext cx="380596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5500" dirty="0">
                <a:solidFill>
                  <a:schemeClr val="bg1"/>
                </a:solidFill>
                <a:latin typeface="Eurostile-Roman" pitchFamily="2" charset="0"/>
                <a:cs typeface="Microsoft New Tai Lue" panose="020B0502040204020203" pitchFamily="34" charset="0"/>
              </a:rPr>
              <a:t>Introduction</a:t>
            </a:r>
          </a:p>
        </p:txBody>
      </p:sp>
      <p:pic>
        <p:nvPicPr>
          <p:cNvPr id="7" name="Imag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604" y="4282068"/>
            <a:ext cx="4713244" cy="1178311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432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9210" y="53794"/>
            <a:ext cx="7886700" cy="1325563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dirty="0">
                <a:solidFill>
                  <a:schemeClr val="bg1"/>
                </a:solidFill>
                <a:latin typeface="Eurostile-Roman" pitchFamily="2" charset="0"/>
              </a:rPr>
              <a:t>   </a:t>
            </a:r>
            <a:r>
              <a:rPr lang="fr-FR" dirty="0" err="1">
                <a:solidFill>
                  <a:schemeClr val="bg1"/>
                </a:solidFill>
                <a:latin typeface="Eurostile-Roman" pitchFamily="2" charset="0"/>
              </a:rPr>
              <a:t>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SARL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Entreprise de services du numérique (ESN)</a:t>
            </a: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Fondée en 1998 par Laurent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Fontenit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Plusieurs pôles :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Développement ERP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Système et réseaux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Administratif</a:t>
            </a:r>
          </a:p>
          <a:p>
            <a:pPr lvl="2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Marketing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2869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8569" y="662781"/>
            <a:ext cx="2078736" cy="1621536"/>
          </a:xfrm>
          <a:prstGeom prst="rect">
            <a:avLst/>
          </a:prstGeom>
        </p:spPr>
      </p:pic>
      <p:sp>
        <p:nvSpPr>
          <p:cNvPr id="4" name="Espace réservé du contenu 2"/>
          <p:cNvSpPr txBox="1">
            <a:spLocks/>
          </p:cNvSpPr>
          <p:nvPr/>
        </p:nvSpPr>
        <p:spPr>
          <a:xfrm>
            <a:off x="1122218" y="2095933"/>
            <a:ext cx="7886700" cy="20084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Projets : </a:t>
            </a:r>
            <a:r>
              <a:rPr lang="fr-FR" sz="2200" dirty="0">
                <a:solidFill>
                  <a:srgbClr val="FF0000"/>
                </a:solidFill>
                <a:latin typeface="Calibri (Corps)"/>
              </a:rPr>
              <a:t>ERP Microsoft Dynamics </a:t>
            </a:r>
            <a:r>
              <a:rPr lang="fr-FR" sz="2200" dirty="0" err="1">
                <a:solidFill>
                  <a:srgbClr val="FF0000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Mise en place</a:t>
            </a:r>
          </a:p>
          <a:p>
            <a:pPr lvl="1"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de modules spécifiques</a:t>
            </a:r>
          </a:p>
          <a:p>
            <a:pPr marL="914400" lvl="2" indent="0">
              <a:buFont typeface="Arial" panose="020B0604020202020204" pitchFamily="34" charset="0"/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5" name="ZoneTexte 4"/>
          <p:cNvSpPr txBox="1"/>
          <p:nvPr/>
        </p:nvSpPr>
        <p:spPr>
          <a:xfrm>
            <a:off x="1122218" y="4010891"/>
            <a:ext cx="6764482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Progiciel de gestion intégré de Microsoft</a:t>
            </a:r>
          </a:p>
          <a:p>
            <a:pPr marL="742950" lvl="1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PME-PMI</a:t>
            </a:r>
          </a:p>
          <a:p>
            <a:pPr>
              <a:lnSpc>
                <a:spcPct val="20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	</a:t>
            </a:r>
            <a:endParaRPr lang="fr-FR" sz="1900" dirty="0">
              <a:latin typeface="Calibri (Corps)"/>
            </a:endParaRPr>
          </a:p>
        </p:txBody>
      </p:sp>
      <p:sp>
        <p:nvSpPr>
          <p:cNvPr id="7" name="Titre 1"/>
          <p:cNvSpPr txBox="1">
            <a:spLocks/>
          </p:cNvSpPr>
          <p:nvPr/>
        </p:nvSpPr>
        <p:spPr>
          <a:xfrm>
            <a:off x="89210" y="53794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Présentation de l’entreprise</a:t>
            </a:r>
            <a:br>
              <a:rPr lang="fr-FR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>
                <a:solidFill>
                  <a:schemeClr val="bg1"/>
                </a:solidFill>
                <a:latin typeface="Eurostile-Roman" pitchFamily="2" charset="0"/>
              </a:rPr>
              <a:t>   Eskape</a:t>
            </a:r>
            <a:endParaRPr lang="fr-FR" dirty="0">
              <a:solidFill>
                <a:schemeClr val="bg1"/>
              </a:solidFill>
              <a:latin typeface="Eurostile-Roman" pitchFamily="2" charset="0"/>
            </a:endParaRP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5902" y="3509480"/>
            <a:ext cx="3043016" cy="1311505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6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40898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096748" y="2188547"/>
            <a:ext cx="7886700" cy="4351338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spécifique développé pour un client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Adapté aux besoins exprimés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Installé et éprouvé </a:t>
            </a: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28839"/>
            <a:ext cx="4713244" cy="1178311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7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3397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2391" y="1108688"/>
            <a:ext cx="5884682" cy="5604027"/>
          </a:xfrm>
          <a:prstGeom prst="rect">
            <a:avLst/>
          </a:prstGeom>
        </p:spPr>
      </p:pic>
      <p:sp>
        <p:nvSpPr>
          <p:cNvPr id="14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8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722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35082" y="0"/>
            <a:ext cx="7886700" cy="1325563"/>
          </a:xfrm>
        </p:spPr>
        <p:txBody>
          <a:bodyPr>
            <a:normAutofit/>
          </a:bodyPr>
          <a:lstStyle/>
          <a:p>
            <a:r>
              <a:rPr lang="fr-FR" sz="4700" dirty="0">
                <a:solidFill>
                  <a:schemeClr val="bg1"/>
                </a:solidFill>
                <a:latin typeface="Eurostile-Roman" pitchFamily="2" charset="0"/>
              </a:rPr>
              <a:t>Sujet du stage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257300" y="1948661"/>
            <a:ext cx="7886700" cy="1948555"/>
          </a:xfrm>
        </p:spPr>
        <p:txBody>
          <a:bodyPr>
            <a:no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Vertical développé par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</a:t>
            </a:r>
            <a:r>
              <a:rPr lang="fr-FR" sz="2200" b="1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Module très spécifique mais …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… adapté pour toutes les entreprises de même profil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 marL="914400" lvl="2" indent="0"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4473" y="4938369"/>
            <a:ext cx="4713244" cy="1178311"/>
          </a:xfrm>
          <a:prstGeom prst="rect">
            <a:avLst/>
          </a:prstGeom>
        </p:spPr>
      </p:pic>
      <p:sp>
        <p:nvSpPr>
          <p:cNvPr id="5" name="Espace réservé du contenu 2"/>
          <p:cNvSpPr txBox="1">
            <a:spLocks/>
          </p:cNvSpPr>
          <p:nvPr/>
        </p:nvSpPr>
        <p:spPr>
          <a:xfrm>
            <a:off x="959217" y="3931481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fr-FR" sz="2200" dirty="0">
              <a:solidFill>
                <a:srgbClr val="004492"/>
              </a:solidFill>
              <a:latin typeface="Eurostile-Roman" pitchFamily="2" charset="0"/>
            </a:endParaRPr>
          </a:p>
        </p:txBody>
      </p:sp>
      <p:sp>
        <p:nvSpPr>
          <p:cNvPr id="6" name="Espace réservé du contenu 2"/>
          <p:cNvSpPr txBox="1">
            <a:spLocks/>
          </p:cNvSpPr>
          <p:nvPr/>
        </p:nvSpPr>
        <p:spPr>
          <a:xfrm>
            <a:off x="2432069" y="4022680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8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Certification du vertical </a:t>
            </a:r>
            <a:r>
              <a:rPr lang="fr-FR" sz="2800" b="1" dirty="0" err="1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NAViDMS</a:t>
            </a:r>
            <a:endParaRPr lang="fr-FR" sz="28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9" name="Flèche : droite 8"/>
          <p:cNvSpPr/>
          <p:nvPr/>
        </p:nvSpPr>
        <p:spPr>
          <a:xfrm>
            <a:off x="1504361" y="4114800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9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32221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44109" y="2176637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Officialise un module développé par un partenaire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Certifie que le module est viable et efficace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Rend le vertical disponible à la vente par les autres entreprises partenaires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10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10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78557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24653" y="136501"/>
            <a:ext cx="7886700" cy="1325563"/>
          </a:xfrm>
        </p:spPr>
        <p:txBody>
          <a:bodyPr>
            <a:normAutofit/>
          </a:bodyPr>
          <a:lstStyle/>
          <a:p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Certification </a:t>
            </a:r>
            <a:br>
              <a:rPr lang="fr-FR" sz="44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4400" dirty="0">
                <a:solidFill>
                  <a:schemeClr val="bg1"/>
                </a:solidFill>
                <a:latin typeface="Eurostile-Roman" pitchFamily="2" charset="0"/>
              </a:rPr>
              <a:t>CFMD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922889" y="2168862"/>
            <a:ext cx="8321471" cy="4351338"/>
          </a:xfrm>
        </p:spPr>
        <p:txBody>
          <a:bodyPr>
            <a:normAutofit/>
          </a:bodyPr>
          <a:lstStyle/>
          <a:p>
            <a:r>
              <a:rPr lang="fr-FR" sz="2200" dirty="0">
                <a:solidFill>
                  <a:srgbClr val="004492"/>
                </a:solidFill>
                <a:latin typeface="Calibri (Corps)"/>
              </a:rPr>
              <a:t>Programme </a:t>
            </a:r>
            <a:r>
              <a:rPr lang="fr-FR" sz="2200" b="1" dirty="0" err="1">
                <a:solidFill>
                  <a:srgbClr val="FF0000"/>
                </a:solidFill>
                <a:latin typeface="Calibri (Corps)"/>
              </a:rPr>
              <a:t>Certified</a:t>
            </a:r>
            <a:r>
              <a:rPr lang="fr-FR" sz="2200" b="1" dirty="0">
                <a:solidFill>
                  <a:srgbClr val="FF0000"/>
                </a:solidFill>
                <a:latin typeface="Calibri (Corps)"/>
              </a:rPr>
              <a:t> for Microsoft Dynamics 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(CFMD) : </a:t>
            </a:r>
          </a:p>
          <a:p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Série de test réalisée par une entreprise externe à Microsoft</a:t>
            </a:r>
          </a:p>
          <a:p>
            <a:pPr lvl="1"/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Doit répondre à de nombreux critères </a:t>
            </a:r>
            <a:r>
              <a:rPr lang="fr-FR" sz="19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</a:t>
            </a:r>
            <a:r>
              <a:rPr lang="fr-FR" sz="1900" b="1" dirty="0" err="1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CfMD</a:t>
            </a:r>
            <a:r>
              <a:rPr lang="fr-FR" sz="19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Guidelines</a:t>
            </a:r>
          </a:p>
          <a:p>
            <a:pPr lvl="1"/>
            <a:endParaRPr lang="fr-FR" sz="1900" b="1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/>
            <a:r>
              <a:rPr lang="fr-FR" sz="1900" dirty="0">
                <a:solidFill>
                  <a:srgbClr val="004492"/>
                </a:solidFill>
                <a:latin typeface="Calibri (Corps)"/>
              </a:rPr>
              <a:t>L’entreprise doit fournir 10 références clients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9930" y="4939991"/>
            <a:ext cx="2595408" cy="1312582"/>
          </a:xfrm>
          <a:prstGeom prst="rect">
            <a:avLst/>
          </a:prstGeom>
        </p:spPr>
      </p:pic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11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7099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CFMD Guidelines</a:t>
            </a: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614652" y="293535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Document technique en anglais</a:t>
            </a:r>
          </a:p>
          <a:p>
            <a:pPr marL="0" indent="0">
              <a:lnSpc>
                <a:spcPct val="150000"/>
              </a:lnSpc>
              <a:buNone/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Décrit point par point la certification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216" y="3060470"/>
            <a:ext cx="2249193" cy="2928773"/>
          </a:xfrm>
          <a:prstGeom prst="rect">
            <a:avLst/>
          </a:prstGeom>
        </p:spPr>
      </p:pic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12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40797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136055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Travail principal : renumérotation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926858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Indispensable pour la certification</a:t>
            </a:r>
          </a:p>
          <a:p>
            <a:pPr marL="342900" lvl="1" indent="0">
              <a:lnSpc>
                <a:spcPct val="200000"/>
              </a:lnSpc>
              <a:buNone/>
            </a:pPr>
            <a:endParaRPr lang="fr-FR" sz="15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 Placer les identifiants des objets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dans la plage certifiée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0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01519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328500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Multitude d’objets de types différents :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Tables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Pages</a:t>
            </a: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 err="1">
                <a:solidFill>
                  <a:srgbClr val="004492"/>
                </a:solidFill>
                <a:latin typeface="Calibri (Corps)"/>
              </a:rPr>
              <a:t>Codeunit</a:t>
            </a:r>
            <a:endParaRPr lang="fr-FR" sz="17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1700" dirty="0">
                <a:solidFill>
                  <a:srgbClr val="004492"/>
                </a:solidFill>
                <a:latin typeface="Calibri (Corps)"/>
              </a:rPr>
              <a:t>…</a:t>
            </a:r>
          </a:p>
          <a:p>
            <a:pPr lvl="1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stockés dans une base de données liée</a:t>
            </a:r>
          </a:p>
          <a:p>
            <a:pPr lvl="1">
              <a:lnSpc>
                <a:spcPct val="20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14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7717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264288" y="4220093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00000"/>
              </a:lnSpc>
              <a:buNone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Exemple d’objets Dynamics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15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102" y="2664262"/>
            <a:ext cx="8898083" cy="1443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1177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327586" y="2655832"/>
            <a:ext cx="8059882" cy="38264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49 999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standards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50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spécifiques</a:t>
            </a:r>
          </a:p>
          <a:p>
            <a:pPr lvl="0">
              <a:lnSpc>
                <a:spcPct val="250000"/>
              </a:lnSpc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Identifiant entre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100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000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et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999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 :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objets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certifiés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37463" y="1953762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9403272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1855714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Fonctionnement des 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473465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Objets très liés entre eux (par l’identifiant)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Renumérotation impossible nativement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730828" y="436012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lvl="1" indent="0">
              <a:lnSpc>
                <a:spcPct val="250000"/>
              </a:lnSpc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</a:rPr>
              <a:t>Problématique :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migrer objets et champs spécifiques dans la plage certifiée.</a:t>
            </a:r>
          </a:p>
        </p:txBody>
      </p:sp>
    </p:spTree>
    <p:extLst>
      <p:ext uri="{BB962C8B-B14F-4D97-AF65-F5344CB8AC3E}">
        <p14:creationId xmlns:p14="http://schemas.microsoft.com/office/powerpoint/2010/main" val="13621456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238847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Outils de renumérotations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84118" y="2745086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Outils externes trop complexes / couteux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18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4010" y="4171580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Choix technique retenu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1084118" y="4622943"/>
            <a:ext cx="8059882" cy="19981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Développement d’un outil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10488484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4" name="Espace réservé du contenu 30"/>
          <p:cNvSpPr>
            <a:spLocks noGrp="1"/>
          </p:cNvSpPr>
          <p:nvPr>
            <p:ph idx="1"/>
          </p:nvPr>
        </p:nvSpPr>
        <p:spPr>
          <a:xfrm>
            <a:off x="1330037" y="2102371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Auto-formation : utilisation de nouvelles technologies :</a:t>
            </a:r>
          </a:p>
        </p:txBody>
      </p:sp>
      <p:pic>
        <p:nvPicPr>
          <p:cNvPr id="2050" name="Picture 2" descr="http://www.guillaumebrout.fr/wp-content/uploads/2016/01/2p4i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3103" y="3156333"/>
            <a:ext cx="1579707" cy="1579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Espace réservé du contenu 30"/>
          <p:cNvSpPr txBox="1">
            <a:spLocks/>
          </p:cNvSpPr>
          <p:nvPr/>
        </p:nvSpPr>
        <p:spPr>
          <a:xfrm>
            <a:off x="3020292" y="2969647"/>
            <a:ext cx="7886700" cy="35057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de programmation orienté objet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Langage propriétaire : Microsoft</a:t>
            </a:r>
          </a:p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Similitudes :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C++</a:t>
            </a:r>
          </a:p>
          <a:p>
            <a:pPr lvl="1">
              <a:lnSpc>
                <a:spcPct val="150000"/>
              </a:lnSpc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JAVA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fr-FR" sz="19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0AF257-D28F-495E-9E53-3BED59B8AA35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558711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7" name="Espace réservé du contenu 30"/>
          <p:cNvSpPr>
            <a:spLocks noGrp="1"/>
          </p:cNvSpPr>
          <p:nvPr>
            <p:ph idx="1"/>
          </p:nvPr>
        </p:nvSpPr>
        <p:spPr>
          <a:xfrm>
            <a:off x="904010" y="2022983"/>
            <a:ext cx="7886700" cy="10539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de renumérotation :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20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6" name="Cylindre 5"/>
          <p:cNvSpPr/>
          <p:nvPr/>
        </p:nvSpPr>
        <p:spPr>
          <a:xfrm>
            <a:off x="1109421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49690" y="3818442"/>
            <a:ext cx="1831276" cy="685808"/>
          </a:xfrm>
          <a:prstGeom prst="rect">
            <a:avLst/>
          </a:prstGeom>
          <a:solidFill>
            <a:schemeClr val="bg1"/>
          </a:solidFill>
          <a:ln w="28575">
            <a:solidFill>
              <a:srgbClr val="6195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rgbClr val="61953D"/>
                </a:solidFill>
              </a:rPr>
              <a:t>Renumérotation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1971739" y="4161346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Export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2" name="Connecteur droit avec flèche 11"/>
          <p:cNvCxnSpPr>
            <a:stCxn id="6" idx="4"/>
            <a:endCxn id="9" idx="1"/>
          </p:cNvCxnSpPr>
          <p:nvPr/>
        </p:nvCxnSpPr>
        <p:spPr>
          <a:xfrm>
            <a:off x="1925105" y="4161346"/>
            <a:ext cx="172458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>
            <a:off x="3696323" y="4522624"/>
            <a:ext cx="17846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b="1" dirty="0"/>
              <a:t>Outil de Migration</a:t>
            </a: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4" name="Connecteur droit avec flèche 13"/>
          <p:cNvCxnSpPr>
            <a:endCxn id="16" idx="2"/>
          </p:cNvCxnSpPr>
          <p:nvPr/>
        </p:nvCxnSpPr>
        <p:spPr>
          <a:xfrm>
            <a:off x="5480965" y="4161346"/>
            <a:ext cx="160393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oneTexte 14"/>
          <p:cNvSpPr txBox="1"/>
          <p:nvPr/>
        </p:nvSpPr>
        <p:spPr>
          <a:xfrm>
            <a:off x="5360315" y="4195792"/>
            <a:ext cx="17846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>
                <a:solidFill>
                  <a:srgbClr val="FF0000"/>
                </a:solidFill>
              </a:rPr>
              <a:t>Import (.</a:t>
            </a:r>
            <a:r>
              <a:rPr lang="fr-FR" sz="1600" dirty="0" err="1">
                <a:solidFill>
                  <a:srgbClr val="FF0000"/>
                </a:solidFill>
              </a:rPr>
              <a:t>txt</a:t>
            </a:r>
            <a:r>
              <a:rPr lang="fr-FR" sz="1600" dirty="0">
                <a:solidFill>
                  <a:srgbClr val="FF0000"/>
                </a:solidFill>
              </a:rPr>
              <a:t>)</a:t>
            </a:r>
          </a:p>
          <a:p>
            <a:pPr algn="ctr"/>
            <a:endParaRPr lang="fr-FR" sz="1600" dirty="0">
              <a:solidFill>
                <a:srgbClr val="FF0000"/>
              </a:solidFill>
            </a:endParaRPr>
          </a:p>
          <a:p>
            <a:pPr algn="ctr"/>
            <a:endParaRPr lang="fr-FR" sz="16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16" name="Cylindre 15"/>
          <p:cNvSpPr/>
          <p:nvPr/>
        </p:nvSpPr>
        <p:spPr>
          <a:xfrm>
            <a:off x="7084900" y="3633276"/>
            <a:ext cx="815684" cy="105614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Objets</a:t>
            </a:r>
          </a:p>
          <a:p>
            <a:pPr algn="ctr"/>
            <a:r>
              <a:rPr lang="fr-FR" dirty="0"/>
              <a:t>NAV</a:t>
            </a:r>
          </a:p>
        </p:txBody>
      </p:sp>
    </p:spTree>
    <p:extLst>
      <p:ext uri="{BB962C8B-B14F-4D97-AF65-F5344CB8AC3E}">
        <p14:creationId xmlns:p14="http://schemas.microsoft.com/office/powerpoint/2010/main" val="31808189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21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7322" y="1471960"/>
            <a:ext cx="5001725" cy="5071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76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17" name="Espace réservé du contenu 30"/>
          <p:cNvSpPr txBox="1">
            <a:spLocks/>
          </p:cNvSpPr>
          <p:nvPr/>
        </p:nvSpPr>
        <p:spPr>
          <a:xfrm>
            <a:off x="925170" y="1925950"/>
            <a:ext cx="7886700" cy="753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Problématique principale :</a:t>
            </a:r>
          </a:p>
        </p:txBody>
      </p:sp>
      <p:sp>
        <p:nvSpPr>
          <p:cNvPr id="18" name="Espace réservé du contenu 30"/>
          <p:cNvSpPr txBox="1">
            <a:spLocks/>
          </p:cNvSpPr>
          <p:nvPr/>
        </p:nvSpPr>
        <p:spPr>
          <a:xfrm>
            <a:off x="925170" y="2302785"/>
            <a:ext cx="8059882" cy="1083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FF0000"/>
                </a:solidFill>
                <a:latin typeface="Calibri (Corps)"/>
              </a:rPr>
              <a:t>Compilation des tables modifiées </a:t>
            </a:r>
            <a:r>
              <a:rPr lang="fr-FR" sz="2000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 perte des données stockées</a:t>
            </a:r>
            <a:endParaRPr lang="fr-FR" sz="20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9" name="Espace réservé du contenu 30"/>
          <p:cNvSpPr txBox="1">
            <a:spLocks/>
          </p:cNvSpPr>
          <p:nvPr/>
        </p:nvSpPr>
        <p:spPr>
          <a:xfrm>
            <a:off x="925170" y="3284771"/>
            <a:ext cx="7886700" cy="7536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mise en place :</a:t>
            </a:r>
          </a:p>
          <a:p>
            <a:pPr>
              <a:lnSpc>
                <a:spcPct val="150000"/>
              </a:lnSpc>
            </a:pPr>
            <a:endParaRPr lang="fr-FR" sz="22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20" name="Espace réservé du contenu 30"/>
          <p:cNvSpPr txBox="1">
            <a:spLocks/>
          </p:cNvSpPr>
          <p:nvPr/>
        </p:nvSpPr>
        <p:spPr>
          <a:xfrm>
            <a:off x="925170" y="3763107"/>
            <a:ext cx="8059882" cy="27197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Scénario de migration sans perte de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Anciennes tables </a:t>
            </a:r>
            <a:r>
              <a:rPr lang="fr-FR" sz="20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tables temporaires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Traitement de la migration en interne dans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Nav</a:t>
            </a:r>
            <a:endParaRPr lang="fr-FR" sz="2000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FF0000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marL="342900" lvl="1" indent="0">
              <a:lnSpc>
                <a:spcPct val="250000"/>
              </a:lnSpc>
              <a:buNone/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8783208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23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19025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Développement d’un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de migration des données :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796851"/>
            <a:ext cx="8059882" cy="33474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Langage C/AL : très orienté données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par transfert de données entre tables 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Boucle dynamique sur toutes les tables à migrer 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</p:spTree>
    <p:extLst>
      <p:ext uri="{BB962C8B-B14F-4D97-AF65-F5344CB8AC3E}">
        <p14:creationId xmlns:p14="http://schemas.microsoft.com/office/powerpoint/2010/main" val="3695814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24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5" name="Espace réservé du contenu 30"/>
          <p:cNvSpPr>
            <a:spLocks noGrp="1"/>
          </p:cNvSpPr>
          <p:nvPr>
            <p:ph idx="1"/>
          </p:nvPr>
        </p:nvSpPr>
        <p:spPr>
          <a:xfrm>
            <a:off x="948615" y="2089891"/>
            <a:ext cx="7886700" cy="753671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Enrichissement du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Codeunit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 migration spécifique</a:t>
            </a: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696492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Migration précédente : migration générale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Ajout de méthodes de migration spécifique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6" name="Espace réservé du contenu 30"/>
          <p:cNvSpPr txBox="1">
            <a:spLocks/>
          </p:cNvSpPr>
          <p:nvPr/>
        </p:nvSpPr>
        <p:spPr>
          <a:xfrm>
            <a:off x="1084118" y="4436238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Modification d’identifiants stockés avec nouveaux ID</a:t>
            </a:r>
          </a:p>
        </p:txBody>
      </p:sp>
    </p:spTree>
    <p:extLst>
      <p:ext uri="{BB962C8B-B14F-4D97-AF65-F5344CB8AC3E}">
        <p14:creationId xmlns:p14="http://schemas.microsoft.com/office/powerpoint/2010/main" val="25896734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25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3003857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Vertical 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NAViDMS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: conçu comme un module spécifique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Certains identifiants écrits en dur dans les codes C/AL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181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61413" y="520056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Impossibles à identifier / renuméroter automatiquement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5197735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d’analyse d’objets Dynamics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24735773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26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Développer un outil d’analyse en C#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Faire remonter les lignes potentiellement problématiques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Intégrer l’outil d’analyse dans un outil plus global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Solution retenue : </a:t>
            </a:r>
          </a:p>
        </p:txBody>
      </p:sp>
    </p:spTree>
    <p:extLst>
      <p:ext uri="{BB962C8B-B14F-4D97-AF65-F5344CB8AC3E}">
        <p14:creationId xmlns:p14="http://schemas.microsoft.com/office/powerpoint/2010/main" val="34659013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27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5"/>
            <a:ext cx="8059882" cy="27897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Préparation à l’ajout de nouvelles fonctionnalités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Mise en place d’une interface simple et efficace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Généraliste et configurable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Transformation en programme « boîte à outils » pour </a:t>
            </a:r>
            <a:r>
              <a:rPr lang="fr-FR" sz="2200" dirty="0" err="1">
                <a:solidFill>
                  <a:srgbClr val="004492"/>
                </a:solidFill>
                <a:latin typeface="Calibri (Corps)"/>
              </a:rPr>
              <a:t>Nav</a:t>
            </a:r>
            <a:r>
              <a:rPr lang="fr-FR" sz="2200" dirty="0">
                <a:solidFill>
                  <a:srgbClr val="004492"/>
                </a:solidFill>
                <a:latin typeface="Calibri (Corps)"/>
              </a:rPr>
              <a:t> :</a:t>
            </a:r>
          </a:p>
        </p:txBody>
      </p:sp>
    </p:spTree>
    <p:extLst>
      <p:ext uri="{BB962C8B-B14F-4D97-AF65-F5344CB8AC3E}">
        <p14:creationId xmlns:p14="http://schemas.microsoft.com/office/powerpoint/2010/main" val="40084596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28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914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d’ajout de Version List</a:t>
            </a:r>
          </a:p>
        </p:txBody>
      </p:sp>
      <p:sp>
        <p:nvSpPr>
          <p:cNvPr id="14" name="Espace réservé du contenu 30"/>
          <p:cNvSpPr txBox="1">
            <a:spLocks/>
          </p:cNvSpPr>
          <p:nvPr/>
        </p:nvSpPr>
        <p:spPr>
          <a:xfrm>
            <a:off x="1084118" y="2987697"/>
            <a:ext cx="8059882" cy="1840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regroupe objets d’un même vertical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Version List : comporte un numéro de version du vertical</a:t>
            </a: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7" name="Espace réservé du contenu 2"/>
          <p:cNvSpPr txBox="1">
            <a:spLocks/>
          </p:cNvSpPr>
          <p:nvPr/>
        </p:nvSpPr>
        <p:spPr>
          <a:xfrm>
            <a:off x="1972902" y="506280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Indispensable pour passer le test de certification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8" name="Flèche : droite 17"/>
          <p:cNvSpPr/>
          <p:nvPr/>
        </p:nvSpPr>
        <p:spPr>
          <a:xfrm>
            <a:off x="1064603" y="5062802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4672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29</a:t>
            </a:fld>
            <a:endParaRPr lang="fr-FR" sz="1800" dirty="0">
              <a:latin typeface="Eurostile-Roman" pitchFamily="2" charset="0"/>
            </a:endParaRPr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245" y="2497873"/>
            <a:ext cx="7544713" cy="5515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Rectangle 2"/>
          <p:cNvSpPr/>
          <p:nvPr/>
        </p:nvSpPr>
        <p:spPr>
          <a:xfrm>
            <a:off x="6367346" y="2497873"/>
            <a:ext cx="1834612" cy="55154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Espace réservé du contenu 30"/>
          <p:cNvSpPr txBox="1">
            <a:spLocks/>
          </p:cNvSpPr>
          <p:nvPr/>
        </p:nvSpPr>
        <p:spPr>
          <a:xfrm>
            <a:off x="6593630" y="1870125"/>
            <a:ext cx="177313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2200" dirty="0">
                <a:solidFill>
                  <a:srgbClr val="FF0000"/>
                </a:solidFill>
                <a:latin typeface="Calibri (Corps)"/>
              </a:rPr>
              <a:t>Version List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4875" y="3985145"/>
            <a:ext cx="3153215" cy="1228896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25" name="Connecteur : en angle 24"/>
          <p:cNvCxnSpPr>
            <a:stCxn id="3" idx="2"/>
          </p:cNvCxnSpPr>
          <p:nvPr/>
        </p:nvCxnSpPr>
        <p:spPr>
          <a:xfrm rot="5400000">
            <a:off x="5252810" y="2874697"/>
            <a:ext cx="1857123" cy="2206562"/>
          </a:xfrm>
          <a:prstGeom prst="bentConnector2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1189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30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1084118" y="2852756"/>
            <a:ext cx="8059882" cy="19870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nouveaux objets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Attribuer une Version List aux objets standards </a:t>
            </a:r>
            <a:r>
              <a:rPr lang="fr-FR" sz="2000" b="1" dirty="0">
                <a:solidFill>
                  <a:srgbClr val="004492"/>
                </a:solidFill>
                <a:latin typeface="Calibri (Corps)"/>
              </a:rPr>
              <a:t>modifiés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17188" y="2302587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Problématique de la Version List : </a:t>
            </a:r>
          </a:p>
        </p:txBody>
      </p:sp>
      <p:sp>
        <p:nvSpPr>
          <p:cNvPr id="12" name="Espace réservé du contenu 2"/>
          <p:cNvSpPr txBox="1">
            <a:spLocks/>
          </p:cNvSpPr>
          <p:nvPr/>
        </p:nvSpPr>
        <p:spPr>
          <a:xfrm>
            <a:off x="1972564" y="4839778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FF0000"/>
                </a:solidFill>
                <a:latin typeface="Calibri (Corps)"/>
                <a:sym typeface="Wingdings" panose="05000000000000000000" pitchFamily="2" charset="2"/>
              </a:rPr>
              <a:t>Comparer chaque objet standard avec un objet de référence</a:t>
            </a:r>
            <a:endParaRPr lang="fr-FR" sz="2000" b="1" dirty="0">
              <a:solidFill>
                <a:srgbClr val="FF0000"/>
              </a:solidFill>
              <a:latin typeface="Calibri (Corps)"/>
            </a:endParaRPr>
          </a:p>
        </p:txBody>
      </p:sp>
      <p:sp>
        <p:nvSpPr>
          <p:cNvPr id="13" name="Flèche : droite 12"/>
          <p:cNvSpPr/>
          <p:nvPr/>
        </p:nvSpPr>
        <p:spPr>
          <a:xfrm>
            <a:off x="1064265" y="4839778"/>
            <a:ext cx="680224" cy="320125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rgbClr val="FF0000"/>
              </a:solidFill>
              <a:highlight>
                <a:srgbClr val="FF00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0440158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31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2723009" y="1422914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1064265" y="2476876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Outil de génération de documentation HTML :</a:t>
            </a:r>
          </a:p>
        </p:txBody>
      </p:sp>
      <p:sp>
        <p:nvSpPr>
          <p:cNvPr id="14" name="Espace réservé du contenu 30"/>
          <p:cNvSpPr txBox="1">
            <a:spLocks/>
          </p:cNvSpPr>
          <p:nvPr/>
        </p:nvSpPr>
        <p:spPr>
          <a:xfrm>
            <a:off x="1084118" y="2987697"/>
            <a:ext cx="8059882" cy="1840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Documentation des tables et champs ajoutés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NAV : serveur de documentation Web</a:t>
            </a:r>
          </a:p>
        </p:txBody>
      </p:sp>
      <p:sp>
        <p:nvSpPr>
          <p:cNvPr id="17" name="Espace réservé du contenu 2"/>
          <p:cNvSpPr txBox="1">
            <a:spLocks/>
          </p:cNvSpPr>
          <p:nvPr/>
        </p:nvSpPr>
        <p:spPr>
          <a:xfrm>
            <a:off x="1972902" y="5062802"/>
            <a:ext cx="7886700" cy="19485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sz="2000" b="1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Indispensable pour passer le test de certification</a:t>
            </a:r>
            <a:endParaRPr lang="fr-FR" sz="2000" b="1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18" name="Flèche : droite 17"/>
          <p:cNvSpPr/>
          <p:nvPr/>
        </p:nvSpPr>
        <p:spPr>
          <a:xfrm>
            <a:off x="1064603" y="5062802"/>
            <a:ext cx="680224" cy="320125"/>
          </a:xfrm>
          <a:prstGeom prst="rightArrow">
            <a:avLst/>
          </a:prstGeom>
          <a:solidFill>
            <a:srgbClr val="004492"/>
          </a:solidFill>
          <a:ln>
            <a:solidFill>
              <a:srgbClr val="00449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81722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45917" y="0"/>
            <a:ext cx="6347713" cy="1320800"/>
          </a:xfrm>
        </p:spPr>
        <p:txBody>
          <a:bodyPr>
            <a:normAutofit/>
          </a:bodyPr>
          <a:lstStyle/>
          <a:p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Développement </a:t>
            </a:r>
            <a:br>
              <a:rPr lang="fr-FR" sz="35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500" dirty="0">
                <a:solidFill>
                  <a:schemeClr val="bg1"/>
                </a:solidFill>
                <a:latin typeface="Eurostile-Roman" pitchFamily="2" charset="0"/>
              </a:rPr>
              <a:t>de la solution</a:t>
            </a:r>
          </a:p>
        </p:txBody>
      </p:sp>
      <p:sp>
        <p:nvSpPr>
          <p:cNvPr id="11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32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7" name="Espace réservé du contenu 30"/>
          <p:cNvSpPr txBox="1">
            <a:spLocks/>
          </p:cNvSpPr>
          <p:nvPr/>
        </p:nvSpPr>
        <p:spPr>
          <a:xfrm>
            <a:off x="906036" y="2784963"/>
            <a:ext cx="8059882" cy="32581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000" dirty="0">
                <a:solidFill>
                  <a:srgbClr val="004492"/>
                </a:solidFill>
                <a:latin typeface="Calibri (Corps)"/>
              </a:rPr>
              <a:t>Documents techniques d’</a:t>
            </a:r>
            <a:r>
              <a:rPr lang="fr-FR" sz="2000" dirty="0" err="1">
                <a:solidFill>
                  <a:srgbClr val="004492"/>
                </a:solidFill>
                <a:latin typeface="Calibri (Corps)"/>
              </a:rPr>
              <a:t>Eskape</a:t>
            </a:r>
            <a:r>
              <a:rPr lang="fr-FR" sz="2000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20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 besoins d’entreprise :</a:t>
            </a:r>
            <a:endParaRPr lang="fr-FR" sz="20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q"/>
            </a:pPr>
            <a:r>
              <a:rPr lang="fr-FR" sz="1900" dirty="0">
                <a:solidFill>
                  <a:srgbClr val="004492"/>
                </a:solidFill>
                <a:latin typeface="Calibri (Corps)"/>
              </a:rPr>
              <a:t> Développement C/AL spécifiques sous Dynamics </a:t>
            </a:r>
            <a:r>
              <a:rPr lang="fr-FR" sz="1900" dirty="0" err="1">
                <a:solidFill>
                  <a:srgbClr val="004492"/>
                </a:solidFill>
                <a:latin typeface="Calibri (Corps)"/>
              </a:rPr>
              <a:t>Nav</a:t>
            </a:r>
            <a:endParaRPr lang="fr-FR" sz="1900" dirty="0">
              <a:solidFill>
                <a:srgbClr val="004492"/>
              </a:solidFill>
              <a:latin typeface="Calibri (Corps)"/>
            </a:endParaRPr>
          </a:p>
          <a:p>
            <a:pPr lvl="2">
              <a:lnSpc>
                <a:spcPct val="250000"/>
              </a:lnSpc>
              <a:buFont typeface="Wingdings" panose="05000000000000000000" pitchFamily="2" charset="2"/>
              <a:buChar char="q"/>
            </a:pPr>
            <a:r>
              <a:rPr lang="fr-FR" sz="1900" b="1" dirty="0">
                <a:solidFill>
                  <a:srgbClr val="004492"/>
                </a:solidFill>
                <a:latin typeface="Calibri (Corps)"/>
              </a:rPr>
              <a:t> </a:t>
            </a:r>
            <a:r>
              <a:rPr lang="fr-FR" sz="1900" dirty="0">
                <a:solidFill>
                  <a:srgbClr val="004492"/>
                </a:solidFill>
                <a:latin typeface="Calibri (Corps)"/>
              </a:rPr>
              <a:t>Développement C# sur des PSM : </a:t>
            </a:r>
            <a:endParaRPr lang="fr-FR" sz="19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000" b="1" dirty="0">
              <a:solidFill>
                <a:srgbClr val="004492"/>
              </a:solidFill>
              <a:latin typeface="Calibri (Corps)"/>
            </a:endParaRPr>
          </a:p>
          <a:p>
            <a:pPr lvl="1">
              <a:lnSpc>
                <a:spcPct val="250000"/>
              </a:lnSpc>
            </a:pPr>
            <a:endParaRPr lang="fr-FR" sz="2000" dirty="0">
              <a:solidFill>
                <a:srgbClr val="004492"/>
              </a:solidFill>
              <a:latin typeface="Calibri (Corps)"/>
            </a:endParaRPr>
          </a:p>
        </p:txBody>
      </p:sp>
      <p:sp>
        <p:nvSpPr>
          <p:cNvPr id="9" name="Espace réservé du contenu 30"/>
          <p:cNvSpPr txBox="1">
            <a:spLocks/>
          </p:cNvSpPr>
          <p:nvPr/>
        </p:nvSpPr>
        <p:spPr>
          <a:xfrm>
            <a:off x="906036" y="2257982"/>
            <a:ext cx="7886700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Travail sur des « fiches d’écarts » :</a:t>
            </a:r>
          </a:p>
        </p:txBody>
      </p:sp>
      <p:sp>
        <p:nvSpPr>
          <p:cNvPr id="8" name="Espace réservé du contenu 30"/>
          <p:cNvSpPr txBox="1">
            <a:spLocks/>
          </p:cNvSpPr>
          <p:nvPr/>
        </p:nvSpPr>
        <p:spPr>
          <a:xfrm>
            <a:off x="2767614" y="1320800"/>
            <a:ext cx="4569212" cy="1053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fr-FR" sz="3000" b="1" dirty="0">
                <a:solidFill>
                  <a:srgbClr val="004492"/>
                </a:solidFill>
                <a:latin typeface="Calibri (Corps)"/>
              </a:rPr>
              <a:t>Travaux complémentaires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1615" y="4477372"/>
            <a:ext cx="1778619" cy="177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3901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55710" y="110750"/>
            <a:ext cx="6347713" cy="1320800"/>
          </a:xfrm>
        </p:spPr>
        <p:txBody>
          <a:bodyPr>
            <a:normAutofit/>
          </a:bodyPr>
          <a:lstStyle/>
          <a:p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Bilan humain et</a:t>
            </a:r>
            <a:br>
              <a:rPr lang="fr-FR" sz="38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technique</a:t>
            </a:r>
          </a:p>
        </p:txBody>
      </p:sp>
      <p:sp>
        <p:nvSpPr>
          <p:cNvPr id="5" name="Espace réservé du contenu 30"/>
          <p:cNvSpPr txBox="1">
            <a:spLocks/>
          </p:cNvSpPr>
          <p:nvPr/>
        </p:nvSpPr>
        <p:spPr>
          <a:xfrm>
            <a:off x="1449848" y="1912280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 Expérience très enrichissante et motivante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 Projet à la fois technique, complet et intéressant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Mise en place des compétences acquises en Licence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Découverte de technologies spécifiques </a:t>
            </a:r>
          </a:p>
        </p:txBody>
      </p:sp>
      <p:sp>
        <p:nvSpPr>
          <p:cNvPr id="6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33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2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contenu 30"/>
          <p:cNvSpPr txBox="1">
            <a:spLocks/>
          </p:cNvSpPr>
          <p:nvPr/>
        </p:nvSpPr>
        <p:spPr>
          <a:xfrm>
            <a:off x="1161183" y="1987101"/>
            <a:ext cx="8359485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</a:rPr>
              <a:t> Stage de 8 semaines : atout pour le parcours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Expérience supplémentaire dans le monde professionnel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r>
              <a:rPr lang="fr-FR" sz="2200" dirty="0">
                <a:solidFill>
                  <a:srgbClr val="004492"/>
                </a:solidFill>
                <a:latin typeface="Calibri (Corps)"/>
                <a:sym typeface="Wingdings" panose="05000000000000000000" pitchFamily="2" charset="2"/>
              </a:rPr>
              <a:t> Me conforte dans mon envie de me diriger vers les métiers du développement logiciel</a:t>
            </a:r>
          </a:p>
          <a:p>
            <a:pPr>
              <a:lnSpc>
                <a:spcPct val="250000"/>
              </a:lnSpc>
              <a:buFont typeface="Wingdings" panose="05000000000000000000" pitchFamily="2" charset="2"/>
              <a:buChar char="§"/>
            </a:pPr>
            <a:endParaRPr lang="fr-FR" sz="2200" dirty="0">
              <a:solidFill>
                <a:srgbClr val="004492"/>
              </a:solidFill>
              <a:latin typeface="Calibri (Corps)"/>
              <a:sym typeface="Wingdings" panose="05000000000000000000" pitchFamily="2" charset="2"/>
            </a:endParaRPr>
          </a:p>
        </p:txBody>
      </p:sp>
      <p:sp>
        <p:nvSpPr>
          <p:cNvPr id="7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34</a:t>
            </a:fld>
            <a:endParaRPr lang="fr-FR" sz="1800" dirty="0">
              <a:latin typeface="Eurostile-Roman" pitchFamily="2" charset="0"/>
            </a:endParaRPr>
          </a:p>
        </p:txBody>
      </p:sp>
      <p:sp>
        <p:nvSpPr>
          <p:cNvPr id="8" name="Titre 1"/>
          <p:cNvSpPr>
            <a:spLocks noGrp="1"/>
          </p:cNvSpPr>
          <p:nvPr>
            <p:ph type="title"/>
          </p:nvPr>
        </p:nvSpPr>
        <p:spPr>
          <a:xfrm>
            <a:off x="255710" y="110750"/>
            <a:ext cx="6347713" cy="1320800"/>
          </a:xfrm>
        </p:spPr>
        <p:txBody>
          <a:bodyPr>
            <a:normAutofit/>
          </a:bodyPr>
          <a:lstStyle/>
          <a:p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Bilan humain et</a:t>
            </a:r>
            <a:br>
              <a:rPr lang="fr-FR" sz="3800" dirty="0">
                <a:solidFill>
                  <a:schemeClr val="bg1"/>
                </a:solidFill>
                <a:latin typeface="Eurostile-Roman" pitchFamily="2" charset="0"/>
              </a:rPr>
            </a:br>
            <a:r>
              <a:rPr lang="fr-FR" sz="3800" dirty="0">
                <a:solidFill>
                  <a:schemeClr val="bg1"/>
                </a:solidFill>
                <a:latin typeface="Eurostile-Roman" pitchFamily="2" charset="0"/>
              </a:rPr>
              <a:t>technique</a:t>
            </a:r>
          </a:p>
        </p:txBody>
      </p:sp>
    </p:spTree>
    <p:extLst>
      <p:ext uri="{BB962C8B-B14F-4D97-AF65-F5344CB8AC3E}">
        <p14:creationId xmlns:p14="http://schemas.microsoft.com/office/powerpoint/2010/main" val="22842975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30"/>
          <p:cNvSpPr txBox="1">
            <a:spLocks/>
          </p:cNvSpPr>
          <p:nvPr/>
        </p:nvSpPr>
        <p:spPr>
          <a:xfrm>
            <a:off x="0" y="2018273"/>
            <a:ext cx="9144000" cy="38629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250000"/>
              </a:lnSpc>
              <a:buNone/>
            </a:pPr>
            <a:r>
              <a:rPr lang="fr-FR" sz="5500" b="1" dirty="0">
                <a:solidFill>
                  <a:srgbClr val="004492"/>
                </a:solidFill>
                <a:latin typeface="Eurostile-Roman" pitchFamily="2" charset="0"/>
              </a:rPr>
              <a:t>Merci de votre attention</a:t>
            </a:r>
            <a:endParaRPr lang="fr-FR" sz="5500" b="1" dirty="0">
              <a:solidFill>
                <a:srgbClr val="004492"/>
              </a:solidFill>
              <a:latin typeface="Eurostile-Roman" pitchFamily="2" charset="0"/>
              <a:sym typeface="Wingdings" panose="05000000000000000000" pitchFamily="2" charset="2"/>
            </a:endParaRPr>
          </a:p>
        </p:txBody>
      </p:sp>
      <p:sp>
        <p:nvSpPr>
          <p:cNvPr id="4" name="Espace réservé du numéro de diapositive 1"/>
          <p:cNvSpPr>
            <a:spLocks noGrp="1"/>
          </p:cNvSpPr>
          <p:nvPr>
            <p:ph type="sldNum" sz="quarter" idx="12"/>
          </p:nvPr>
        </p:nvSpPr>
        <p:spPr>
          <a:xfrm>
            <a:off x="6603423" y="6255991"/>
            <a:ext cx="2057400" cy="365125"/>
          </a:xfrm>
        </p:spPr>
        <p:txBody>
          <a:bodyPr/>
          <a:lstStyle/>
          <a:p>
            <a:r>
              <a:rPr lang="fr-FR" sz="1800" dirty="0">
                <a:latin typeface="Eurostile-Roman" pitchFamily="2" charset="0"/>
              </a:rPr>
              <a:t>Diapositive </a:t>
            </a:r>
            <a:fld id="{0A0AF257-D28F-495E-9E53-3BED59B8AA35}" type="slidenum">
              <a:rPr lang="fr-FR" sz="1800" smtClean="0">
                <a:latin typeface="Eurostile-Roman" pitchFamily="2" charset="0"/>
              </a:rPr>
              <a:t>35</a:t>
            </a:fld>
            <a:endParaRPr lang="fr-FR" sz="1800" dirty="0">
              <a:latin typeface="Eurostile-Roman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60249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2010</TotalTime>
  <Words>901</Words>
  <Application>Microsoft Office PowerPoint</Application>
  <PresentationFormat>Affichage à l'écran (4:3)</PresentationFormat>
  <Paragraphs>234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3" baseType="lpstr">
      <vt:lpstr>Arial</vt:lpstr>
      <vt:lpstr>Calibri</vt:lpstr>
      <vt:lpstr>Calibri (Corps)</vt:lpstr>
      <vt:lpstr>Calibri Light</vt:lpstr>
      <vt:lpstr>Eurostile-Roman</vt:lpstr>
      <vt:lpstr>Microsoft New Tai Lue</vt:lpstr>
      <vt:lpstr>Wingdings</vt:lpstr>
      <vt:lpstr>Thème Office</vt:lpstr>
      <vt:lpstr>Soutenance de Stage</vt:lpstr>
      <vt:lpstr>Présentation PowerPoint</vt:lpstr>
      <vt:lpstr>Présentation PowerPoint</vt:lpstr>
      <vt:lpstr>Présentation PowerPoint</vt:lpstr>
      <vt:lpstr>Présentation de l’entreprise    Eskape</vt:lpstr>
      <vt:lpstr>Présentation PowerPoint</vt:lpstr>
      <vt:lpstr>Sujet du stage</vt:lpstr>
      <vt:lpstr>Sujet du stage</vt:lpstr>
      <vt:lpstr>Sujet du stage</vt:lpstr>
      <vt:lpstr>Certification  CFMD</vt:lpstr>
      <vt:lpstr>Certification  CFMD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Développement  de la solution</vt:lpstr>
      <vt:lpstr>Bilan humain et technique</vt:lpstr>
      <vt:lpstr>Bilan humain et technique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de Stage</dc:title>
  <dc:creator>Florent ALAPETITE</dc:creator>
  <cp:lastModifiedBy>Florent ALAPETITE</cp:lastModifiedBy>
  <cp:revision>152</cp:revision>
  <dcterms:created xsi:type="dcterms:W3CDTF">2016-05-18T12:20:50Z</dcterms:created>
  <dcterms:modified xsi:type="dcterms:W3CDTF">2017-05-29T07:03:22Z</dcterms:modified>
</cp:coreProperties>
</file>
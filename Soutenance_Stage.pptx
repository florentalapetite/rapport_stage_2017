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43"/>
  </p:notes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9" r:id="rId9"/>
    <p:sldId id="308" r:id="rId10"/>
    <p:sldId id="261" r:id="rId11"/>
    <p:sldId id="310" r:id="rId12"/>
    <p:sldId id="311" r:id="rId13"/>
    <p:sldId id="313" r:id="rId14"/>
    <p:sldId id="314" r:id="rId15"/>
    <p:sldId id="315" r:id="rId16"/>
    <p:sldId id="317" r:id="rId17"/>
    <p:sldId id="318" r:id="rId18"/>
    <p:sldId id="316" r:id="rId19"/>
    <p:sldId id="269" r:id="rId20"/>
    <p:sldId id="320" r:id="rId21"/>
    <p:sldId id="321" r:id="rId22"/>
    <p:sldId id="322" r:id="rId23"/>
    <p:sldId id="272" r:id="rId24"/>
    <p:sldId id="319" r:id="rId25"/>
    <p:sldId id="275" r:id="rId26"/>
    <p:sldId id="274" r:id="rId27"/>
    <p:sldId id="277" r:id="rId28"/>
    <p:sldId id="278" r:id="rId29"/>
    <p:sldId id="307" r:id="rId30"/>
    <p:sldId id="281" r:id="rId31"/>
    <p:sldId id="287" r:id="rId32"/>
    <p:sldId id="288" r:id="rId33"/>
    <p:sldId id="289" r:id="rId34"/>
    <p:sldId id="295" r:id="rId35"/>
    <p:sldId id="297" r:id="rId36"/>
    <p:sldId id="298" r:id="rId37"/>
    <p:sldId id="299" r:id="rId38"/>
    <p:sldId id="300" r:id="rId39"/>
    <p:sldId id="301" r:id="rId40"/>
    <p:sldId id="302" r:id="rId41"/>
    <p:sldId id="305" r:id="rId42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953D"/>
    <a:srgbClr val="FFFFFF"/>
    <a:srgbClr val="004492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15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6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B8603-F168-4293-AE02-38B8D4407F2C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EC8ED-71C6-4E6F-A673-1924D0F04E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49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A2356-E161-48C6-974A-E0A2B3A6E478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1CD0E-760D-4202-B0C1-E7D5CF6BAA62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4051D-05F2-4EFF-BAA5-5AA6BE41474E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51B9-3C08-47E2-B3DF-FAB5241977DC}" type="datetime1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115EA-13E3-4C85-85DE-3CCFF6A9740B}" type="datetime1">
              <a:rPr lang="fr-FR" smtClean="0"/>
              <a:t>16/05/2017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67F48-8778-44AB-9E95-D19A6ABDAF43}" type="datetime1">
              <a:rPr lang="fr-FR" smtClean="0"/>
              <a:t>16/05/2017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C7F81-61AA-4D25-8AB3-DE0D31697BD5}" type="datetime1">
              <a:rPr lang="fr-FR" smtClean="0"/>
              <a:t>16/05/2017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0180-EC6F-44E5-B856-8B0D40ADA19F}" type="datetime1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A1EF-175C-4684-858C-4DA625CE5717}" type="datetime1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A7D4D-F8D9-43CD-9DB2-FDB2C5CB8AE3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BE3F5-26BA-4BFC-AFDC-3AC7FE105C9D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6C54A-DA3B-4E4A-92D2-3E89B5E318E2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591827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-Roman" pitchFamily="2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29936" y="3391483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-Roman" pitchFamily="2" charset="0"/>
                <a:cs typeface="Microsoft New Tai Lue" panose="020B0502040204020203" pitchFamily="34" charset="0"/>
              </a:rPr>
              <a:t>Certification d’un vertical adapté aux besoins métiers des secteurs agricole, de la manutention et du levage.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-Roman" pitchFamily="2" charset="0"/>
                <a:cs typeface="Microsoft New Tai Lue" panose="020B0502040204020203" pitchFamily="34" charset="0"/>
              </a:rPr>
              <a:t>Année universitaire 2016 - 2017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0" y="151893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Maître de stage : M. DAGOIS</a:t>
            </a:r>
          </a:p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Professeur référent : Mme. SERRANO ALVARADO</a:t>
            </a:r>
          </a:p>
        </p:txBody>
      </p:sp>
      <p:pic>
        <p:nvPicPr>
          <p:cNvPr id="10" name="Image 9" descr="http://www.irem.sciences.univ-nantes.fr/pictures/logoUFR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1" y="5451231"/>
            <a:ext cx="2242515" cy="11195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96787" y="2102126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</a:rPr>
              <a:t>Eskape</a:t>
            </a:r>
            <a:endParaRPr lang="fr-FR" sz="2600" dirty="0">
              <a:solidFill>
                <a:srgbClr val="004492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18877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Fin de Licence 3 Informatique : stage de 8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8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Calibri (Corps)"/>
              </a:rPr>
              <a:t>Travail autour d’un projet majeur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Calibri (Corps)"/>
              </a:rPr>
              <a:t>Certification d’un vertical développé par </a:t>
            </a:r>
            <a:r>
              <a:rPr lang="fr-FR" sz="21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604" y="4282068"/>
            <a:ext cx="4713244" cy="1178311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21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-Roman" pitchFamily="2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Fontenit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Calibri (Corps)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	</a:t>
            </a:r>
            <a:endParaRPr lang="fr-FR" sz="1900" dirty="0">
              <a:latin typeface="Calibri (Corps)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89210" y="537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   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902" y="3509480"/>
            <a:ext cx="3043016" cy="1311505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96748" y="2188547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spécifique développé pour un client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besoins exprimés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Installé et éprouvé 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28839"/>
            <a:ext cx="4713244" cy="1178311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7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91" y="1108688"/>
            <a:ext cx="5884682" cy="5604027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2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7300" y="1948661"/>
            <a:ext cx="7886700" cy="1948555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très spécifique mais …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… adapté pour toutes les entreprises de même profil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38369"/>
            <a:ext cx="4713244" cy="1178311"/>
          </a:xfrm>
          <a:prstGeom prst="rect">
            <a:avLst/>
          </a:prstGeom>
        </p:spPr>
      </p:pic>
      <p:sp>
        <p:nvSpPr>
          <p:cNvPr id="5" name="Espace réservé du contenu 2"/>
          <p:cNvSpPr txBox="1">
            <a:spLocks/>
          </p:cNvSpPr>
          <p:nvPr/>
        </p:nvSpPr>
        <p:spPr>
          <a:xfrm>
            <a:off x="959217" y="393148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432069" y="4022680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8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Certification du vertical </a:t>
            </a:r>
            <a:r>
              <a:rPr lang="fr-FR" sz="2800" b="1" dirty="0" err="1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NAViDMS</a:t>
            </a:r>
            <a:endParaRPr lang="fr-FR" sz="28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9" name="Flèche : droite 8"/>
          <p:cNvSpPr/>
          <p:nvPr/>
        </p:nvSpPr>
        <p:spPr>
          <a:xfrm>
            <a:off x="1504361" y="4114800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9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222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4109" y="2176637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Officialise un module développé par un partenaire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Certifie que le module est viable et efficace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Rend le vertical disponible à la vente par les autres entreprises partenaires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2889" y="2168862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Série de test réalisé par une entreprise externe à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Doit répondre à de nombreux critères </a:t>
            </a:r>
            <a:r>
              <a:rPr lang="fr-FR" sz="19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</a:t>
            </a:r>
            <a:r>
              <a:rPr lang="fr-FR" sz="1900" b="1" dirty="0" err="1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CfMD</a:t>
            </a:r>
            <a:r>
              <a:rPr lang="fr-FR" sz="19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Guidelines</a:t>
            </a:r>
          </a:p>
          <a:p>
            <a:pPr lvl="1"/>
            <a:endParaRPr lang="fr-FR" sz="1900" b="1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L’entreprise doit fournir 10 références clients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70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CFMD Guidelines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614652" y="293535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Document technique en anglais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Décrit point par point la certification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16" y="3060470"/>
            <a:ext cx="2249193" cy="2928773"/>
          </a:xfrm>
          <a:prstGeom prst="rect">
            <a:avLst/>
          </a:prstGeom>
        </p:spPr>
      </p:pic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07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136055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Calibri (Corps)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travail : renumérotation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926858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Indispensable pour la certification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15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 Placer les identifiants des objets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dans la plage fournie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0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0151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328500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Multitude d’objets de types différents :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Tables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Pages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 err="1">
                <a:solidFill>
                  <a:srgbClr val="004492"/>
                </a:solidFill>
                <a:latin typeface="Calibri (Corps)"/>
              </a:rPr>
              <a:t>Codeunit</a:t>
            </a:r>
            <a:endParaRPr lang="fr-FR" sz="17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…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stockés dans une base de données liée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717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264288" y="4220093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Exemple d’objets Dynamics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15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2" y="2664262"/>
            <a:ext cx="8898083" cy="144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17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327586" y="2655832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49 999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standards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50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spécifiques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certifiés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37463" y="1953762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940327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55714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473465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très liés entre eux (par l’identifiant)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Renumérotation impossible nativement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730828" y="436012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50000"/>
              </a:lnSpc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Problématique :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migrer objets et champs spécifiques dans la plage certifiée.</a:t>
            </a:r>
          </a:p>
        </p:txBody>
      </p:sp>
    </p:spTree>
    <p:extLst>
      <p:ext uri="{BB962C8B-B14F-4D97-AF65-F5344CB8AC3E}">
        <p14:creationId xmlns:p14="http://schemas.microsoft.com/office/powerpoint/2010/main" val="1362145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238847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Outils de renumérotations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74508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Outils externes trop complexes / couteux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4010" y="4171580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Choix technique retenu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1084118" y="4622943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Développement d’un outil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048848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022983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de renumérotation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562675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Exports des objets en fichiers .TXT.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Modification des fichiers de structure exportés.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Réimportation des objets et migration des données.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0818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21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956" y="1579956"/>
            <a:ext cx="5792351" cy="467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316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1922622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analyseur syntaxique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529222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Reconnaissance de « patterns » : exemples :</a:t>
            </a:r>
          </a:p>
          <a:p>
            <a:pPr lvl="2">
              <a:lnSpc>
                <a:spcPct val="250000"/>
              </a:lnSpc>
              <a:buClr>
                <a:srgbClr val="004492"/>
              </a:buClr>
              <a:buFont typeface="Wingdings" panose="05000000000000000000" pitchFamily="2" charset="2"/>
              <a:buChar char="§"/>
            </a:pPr>
            <a:r>
              <a:rPr lang="fr-FR" sz="1800" b="1" dirty="0"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OBJECT </a:t>
            </a:r>
            <a:r>
              <a:rPr lang="fr-FR" sz="1800" b="1" dirty="0">
                <a:solidFill>
                  <a:srgbClr val="FF000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type </a:t>
            </a:r>
            <a:r>
              <a:rPr lang="fr-FR" sz="1800" b="1" dirty="0">
                <a:solidFill>
                  <a:srgbClr val="385623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identifiant </a:t>
            </a:r>
            <a:r>
              <a:rPr lang="fr-FR" sz="1800" b="1" dirty="0">
                <a:solidFill>
                  <a:srgbClr val="0070C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nom</a:t>
            </a:r>
          </a:p>
          <a:p>
            <a:pPr lvl="2">
              <a:lnSpc>
                <a:spcPct val="250000"/>
              </a:lnSpc>
              <a:buClr>
                <a:srgbClr val="004492"/>
              </a:buClr>
              <a:buFont typeface="Wingdings" panose="05000000000000000000" pitchFamily="2" charset="2"/>
              <a:buChar char="§"/>
            </a:pPr>
            <a:r>
              <a:rPr lang="fr-FR" sz="1800" b="1" dirty="0">
                <a:solidFill>
                  <a:srgbClr val="FF000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Type </a:t>
            </a:r>
            <a:r>
              <a:rPr lang="fr-FR" sz="1800" b="1" dirty="0">
                <a:solidFill>
                  <a:srgbClr val="385623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identifiant</a:t>
            </a:r>
            <a:r>
              <a:rPr lang="fr-FR" sz="1800" b="1" dirty="0">
                <a:solidFill>
                  <a:srgbClr val="00000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;</a:t>
            </a:r>
            <a:endParaRPr lang="fr-FR" sz="17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Réimportation des objets et migration des données.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284467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200" y="1143000"/>
            <a:ext cx="2913294" cy="5070764"/>
          </a:xfrm>
          <a:prstGeom prst="rect">
            <a:avLst/>
          </a:prstGeom>
        </p:spPr>
      </p:pic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505691" y="2017738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730827" y="281262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CtiServerConnector.DLL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Instancie une connexion avec la solution ELIOT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Permet l’écoute et le traitement d’évènements </a:t>
            </a:r>
          </a:p>
          <a:p>
            <a:pPr marL="342900" lvl="1" indent="0">
              <a:lnSpc>
                <a:spcPct val="25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  </a:t>
            </a: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267896" y="5237019"/>
            <a:ext cx="407323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envoyés par ELIOT</a:t>
            </a:r>
          </a:p>
          <a:p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1698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200" y="1143000"/>
            <a:ext cx="2913294" cy="5070764"/>
          </a:xfrm>
          <a:prstGeom prst="rect">
            <a:avLst/>
          </a:prstGeom>
        </p:spPr>
      </p:pic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505691" y="2017738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730827" y="281262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CtiServerConnector.DLL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Instancie une connexion avec la solution ELIOT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Permet l’écoute et le traitement d’évènements </a:t>
            </a:r>
          </a:p>
          <a:p>
            <a:pPr marL="342900" lvl="1" indent="0">
              <a:lnSpc>
                <a:spcPct val="25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  </a:t>
            </a: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267896" y="5237019"/>
            <a:ext cx="407323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envoyés par ELIOT</a:t>
            </a:r>
          </a:p>
          <a:p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44969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74616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84118" y="271980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100" lvl="1" indent="-457200">
              <a:lnSpc>
                <a:spcPct val="250000"/>
              </a:lnSpc>
              <a:buAutoNum type="arabicPeriod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Tri des évènements utiles</a:t>
            </a:r>
          </a:p>
          <a:p>
            <a:pPr marL="800100" lvl="1" indent="-457200">
              <a:lnSpc>
                <a:spcPct val="250000"/>
              </a:lnSpc>
              <a:buAutoNum type="arabicPeriod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de méthodes d’écoutes de ces évènements</a:t>
            </a: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800100" lvl="1" indent="-457200">
              <a:lnSpc>
                <a:spcPct val="250000"/>
              </a:lnSpc>
              <a:buAutoNum type="arabicPeriod"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5608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d’un fichier de configuration XML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73727" y="2553550"/>
            <a:ext cx="6948055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Lu par le service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Contient le paramétrage des connexions établies par le service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Evite la recompilation en cas de modification de paramétrage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0489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85851" y="1852150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2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ème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Communication avec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404505" y="2379131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Par le biais d’un </a:t>
            </a:r>
            <a:r>
              <a:rPr lang="fr-FR" sz="21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WebService</a:t>
            </a:r>
            <a:r>
              <a:rPr lang="fr-FR" sz="2100" b="1" dirty="0">
                <a:solidFill>
                  <a:srgbClr val="FF0000"/>
                </a:solidFill>
                <a:latin typeface="Eurostile" panose="020B0504020202050204" pitchFamily="34" charset="0"/>
              </a:rPr>
              <a:t> SOAP</a:t>
            </a: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à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Distribué par Dynamics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Nav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via un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codeunit</a:t>
            </a:r>
            <a:r>
              <a:rPr lang="fr-FR" sz="1900" b="1" dirty="0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marL="800100" lvl="1" indent="-457200">
              <a:lnSpc>
                <a:spcPct val="250000"/>
              </a:lnSpc>
              <a:buAutoNum type="arabicPeriod"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4377125"/>
            <a:ext cx="6972300" cy="2256319"/>
          </a:xfrm>
          <a:prstGeom prst="rect">
            <a:avLst/>
          </a:prstGeom>
        </p:spPr>
      </p:pic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6710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sous l’ERP Microsoft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063336" y="2511987"/>
            <a:ext cx="6948055" cy="25899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 Instanciation d’objets défini de base dans l’ERP :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Table 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Form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Codeunit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1772216" y="5308448"/>
            <a:ext cx="6706766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2" indent="-342900"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Langage : C/AL  (Client/server Application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Language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)</a:t>
            </a:r>
          </a:p>
          <a:p>
            <a:endParaRPr lang="fr-FR" dirty="0"/>
          </a:p>
        </p:txBody>
      </p:sp>
      <p:pic>
        <p:nvPicPr>
          <p:cNvPr id="1026" name="Picture 2" descr="http://www.eozys.be/uploads/images/Microsoft-dynamics-NAV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5138" y="522087"/>
            <a:ext cx="1629555" cy="117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96393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92381" y="1711714"/>
            <a:ext cx="3844636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Chronologie Web Service :</a:t>
            </a:r>
          </a:p>
        </p:txBody>
      </p:sp>
      <p:sp>
        <p:nvSpPr>
          <p:cNvPr id="7" name="Cylindre 6"/>
          <p:cNvSpPr/>
          <p:nvPr/>
        </p:nvSpPr>
        <p:spPr>
          <a:xfrm>
            <a:off x="5418861" y="2806191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11" name="Rectangle 10"/>
          <p:cNvSpPr/>
          <p:nvPr/>
        </p:nvSpPr>
        <p:spPr>
          <a:xfrm>
            <a:off x="1620984" y="2926812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sp>
        <p:nvSpPr>
          <p:cNvPr id="13" name="Espace réservé du contenu 30"/>
          <p:cNvSpPr txBox="1">
            <a:spLocks/>
          </p:cNvSpPr>
          <p:nvPr/>
        </p:nvSpPr>
        <p:spPr>
          <a:xfrm>
            <a:off x="740350" y="2924155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1.</a:t>
            </a:r>
          </a:p>
        </p:txBody>
      </p:sp>
      <p:cxnSp>
        <p:nvCxnSpPr>
          <p:cNvPr id="14" name="Connecteur droit avec flèche 13"/>
          <p:cNvCxnSpPr>
            <a:stCxn id="11" idx="3"/>
            <a:endCxn id="7" idx="2"/>
          </p:cNvCxnSpPr>
          <p:nvPr/>
        </p:nvCxnSpPr>
        <p:spPr>
          <a:xfrm>
            <a:off x="2971799" y="3334261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7117763" y="2244076"/>
            <a:ext cx="1509287" cy="830997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Enregistrement données de communication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3303009" y="298589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7117762" y="3657922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Identification contact</a:t>
            </a:r>
          </a:p>
        </p:txBody>
      </p:sp>
      <p:cxnSp>
        <p:nvCxnSpPr>
          <p:cNvPr id="24" name="Connecteur droit 23"/>
          <p:cNvCxnSpPr>
            <a:stCxn id="7" idx="4"/>
            <a:endCxn id="15" idx="1"/>
          </p:cNvCxnSpPr>
          <p:nvPr/>
        </p:nvCxnSpPr>
        <p:spPr>
          <a:xfrm flipV="1">
            <a:off x="6234545" y="2659575"/>
            <a:ext cx="883218" cy="674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25"/>
          <p:cNvCxnSpPr>
            <a:stCxn id="7" idx="4"/>
            <a:endCxn id="19" idx="1"/>
          </p:cNvCxnSpPr>
          <p:nvPr/>
        </p:nvCxnSpPr>
        <p:spPr>
          <a:xfrm>
            <a:off x="6234545" y="3334261"/>
            <a:ext cx="883217" cy="61604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Espace réservé du contenu 30"/>
          <p:cNvSpPr txBox="1">
            <a:spLocks/>
          </p:cNvSpPr>
          <p:nvPr/>
        </p:nvSpPr>
        <p:spPr>
          <a:xfrm>
            <a:off x="740350" y="5080515"/>
            <a:ext cx="652031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2.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17741" y="5080515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cxnSp>
        <p:nvCxnSpPr>
          <p:cNvPr id="52" name="Connecteur droit avec flèche 51"/>
          <p:cNvCxnSpPr/>
          <p:nvPr/>
        </p:nvCxnSpPr>
        <p:spPr>
          <a:xfrm>
            <a:off x="2978947" y="5290537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ZoneTexte 52"/>
          <p:cNvSpPr txBox="1"/>
          <p:nvPr/>
        </p:nvSpPr>
        <p:spPr>
          <a:xfrm>
            <a:off x="3310157" y="495198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4" name="Cylindre 53"/>
          <p:cNvSpPr/>
          <p:nvPr/>
        </p:nvSpPr>
        <p:spPr>
          <a:xfrm>
            <a:off x="5426009" y="4927225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55" name="ZoneTexte 54"/>
          <p:cNvSpPr txBox="1"/>
          <p:nvPr/>
        </p:nvSpPr>
        <p:spPr>
          <a:xfrm>
            <a:off x="7117762" y="5162907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Lecture de l’identification</a:t>
            </a:r>
          </a:p>
        </p:txBody>
      </p:sp>
      <p:cxnSp>
        <p:nvCxnSpPr>
          <p:cNvPr id="56" name="Connecteur droit 55"/>
          <p:cNvCxnSpPr>
            <a:stCxn id="54" idx="4"/>
            <a:endCxn id="55" idx="1"/>
          </p:cNvCxnSpPr>
          <p:nvPr/>
        </p:nvCxnSpPr>
        <p:spPr>
          <a:xfrm>
            <a:off x="6241693" y="5455295"/>
            <a:ext cx="87606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necteur droit avec flèche 59"/>
          <p:cNvCxnSpPr/>
          <p:nvPr/>
        </p:nvCxnSpPr>
        <p:spPr>
          <a:xfrm flipH="1">
            <a:off x="2978947" y="5607496"/>
            <a:ext cx="2436671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ZoneTexte 62"/>
          <p:cNvSpPr txBox="1"/>
          <p:nvPr/>
        </p:nvSpPr>
        <p:spPr>
          <a:xfrm>
            <a:off x="3227681" y="5653849"/>
            <a:ext cx="1949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Réponse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1926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26572" y="1797627"/>
            <a:ext cx="6785263" cy="476942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des méthodes du Web Service </a:t>
            </a:r>
          </a:p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Appel du Web Service dans les méthodes de gestion d’évènements :</a:t>
            </a:r>
          </a:p>
          <a:p>
            <a:pPr lvl="3">
              <a:lnSpc>
                <a:spcPct val="200000"/>
              </a:lnSpc>
            </a:pP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Init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IdentificationAsked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Begin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Established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End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EndOfCall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294409" y="3135442"/>
            <a:ext cx="8849591" cy="41797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51983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Scénario d’appel :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1. Contact    	 Agent A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2. Agent A 	 Agent B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3. Agent B 	 Contact</a:t>
            </a:r>
          </a:p>
          <a:p>
            <a:pPr marL="1028700" lvl="3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Double flèche horizontale 2"/>
          <p:cNvSpPr/>
          <p:nvPr/>
        </p:nvSpPr>
        <p:spPr>
          <a:xfrm>
            <a:off x="3026082" y="3838134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7" name="Double flèche horizontale 6"/>
          <p:cNvSpPr/>
          <p:nvPr/>
        </p:nvSpPr>
        <p:spPr>
          <a:xfrm>
            <a:off x="3026081" y="4482028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8" name="Double flèche horizontale 7"/>
          <p:cNvSpPr/>
          <p:nvPr/>
        </p:nvSpPr>
        <p:spPr>
          <a:xfrm>
            <a:off x="3026080" y="5125922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45286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Initialise 3 enregistrements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Contrainte : </a:t>
            </a:r>
          </a:p>
          <a:p>
            <a:pPr marL="685800" lvl="2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	 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1 seul enregistrement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	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 Conservation de toutes les informations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99975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Identification des 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Directement après enregistrement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685800" lvl="2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3987561"/>
            <a:ext cx="4296375" cy="514422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5366189"/>
            <a:ext cx="4267796" cy="495369"/>
          </a:xfrm>
          <a:prstGeom prst="rect">
            <a:avLst/>
          </a:prstGeom>
        </p:spPr>
      </p:pic>
      <p:sp>
        <p:nvSpPr>
          <p:cNvPr id="7" name="Espace réservé du contenu 30"/>
          <p:cNvSpPr txBox="1">
            <a:spLocks/>
          </p:cNvSpPr>
          <p:nvPr/>
        </p:nvSpPr>
        <p:spPr>
          <a:xfrm>
            <a:off x="5538589" y="3876066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identifié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5538589" y="5348361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inconnu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22856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514351" y="2721349"/>
            <a:ext cx="4433454" cy="201690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Interface de modification du fichier de configuration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0766" y="210711"/>
            <a:ext cx="3408994" cy="65203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568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57432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Sécurisation du fichier de configuration XML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70338" y="2579383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Outils C# :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System.Security.Cryptography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Clé de chiffrement liée à la machine physique</a:t>
            </a:r>
          </a:p>
          <a:p>
            <a:pPr marL="0" indent="0">
              <a:lnSpc>
                <a:spcPct val="200000"/>
              </a:lnSpc>
              <a:buNone/>
            </a:pP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à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d’une bibliothèque de chiffrement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982190" y="5413663"/>
            <a:ext cx="2867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 algn="ctr"/>
            <a:r>
              <a:rPr lang="fr-FR" sz="2200" b="1" dirty="0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EncryptionTools.dll</a:t>
            </a:r>
            <a:endParaRPr lang="fr-FR" sz="22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algn="ctr"/>
            <a:endParaRPr lang="fr-FR" b="1" dirty="0">
              <a:solidFill>
                <a:srgbClr val="FF0000"/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03624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d’un installeur Windows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71" y="2527428"/>
            <a:ext cx="4725059" cy="3877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52054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technique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49556" y="2371564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Commentaires internes aux codes (C# et C/AL)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Explication du fonctionnement des méthodes</a:t>
            </a: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Traçabilité du code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1200149" y="5288971"/>
            <a:ext cx="66008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// FA 03-05-2016  =&gt;  Module : explication de la méthode</a:t>
            </a:r>
            <a:endParaRPr lang="fr-FR" sz="2000" dirty="0">
              <a:solidFill>
                <a:srgbClr val="FF0000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endParaRPr lang="fr-FR" sz="2000" dirty="0">
              <a:solidFill>
                <a:srgbClr val="FF0000"/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0757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31322" y="1840560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utilisateur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971674" y="2402737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Présentation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Installation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Informations complémentaires :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Cycle de vie du service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Désinstallation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0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46347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83301" y="2039055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des compétences acquises à l’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lUT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Découverte de technologies spécifiques 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Stage de 10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Premier pas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Me conforte dans mon envie de me diriger vers les métiers du développement de projets informatiques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" panose="020B0504020202050204" pitchFamily="34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1401</TotalTime>
  <Words>996</Words>
  <Application>Microsoft Office PowerPoint</Application>
  <PresentationFormat>Affichage à l'écran (4:3)</PresentationFormat>
  <Paragraphs>287</Paragraphs>
  <Slides>41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41</vt:i4>
      </vt:variant>
    </vt:vector>
  </HeadingPairs>
  <TitlesOfParts>
    <vt:vector size="51" baseType="lpstr">
      <vt:lpstr>Arial</vt:lpstr>
      <vt:lpstr>Calibri</vt:lpstr>
      <vt:lpstr>Calibri (Corps)</vt:lpstr>
      <vt:lpstr>Calibri Light</vt:lpstr>
      <vt:lpstr>Eurostile</vt:lpstr>
      <vt:lpstr>Eurostile-Roman</vt:lpstr>
      <vt:lpstr>Microsoft New Tai Lue</vt:lpstr>
      <vt:lpstr>Times New Roman</vt:lpstr>
      <vt:lpstr>Wingdings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PowerPoint</vt:lpstr>
      <vt:lpstr>Sujet du stage</vt:lpstr>
      <vt:lpstr>Sujet du stage</vt:lpstr>
      <vt:lpstr>Sujet du stage</vt:lpstr>
      <vt:lpstr>Certification  CFMD</vt:lpstr>
      <vt:lpstr>Certification  CFMD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127</cp:revision>
  <dcterms:created xsi:type="dcterms:W3CDTF">2016-05-18T12:20:50Z</dcterms:created>
  <dcterms:modified xsi:type="dcterms:W3CDTF">2017-05-16T13:02:12Z</dcterms:modified>
</cp:coreProperties>
</file>
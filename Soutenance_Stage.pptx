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34"/>
  </p:notesMasterIdLst>
  <p:sldIdLst>
    <p:sldId id="256" r:id="rId2"/>
    <p:sldId id="257" r:id="rId3"/>
    <p:sldId id="264" r:id="rId4"/>
    <p:sldId id="306" r:id="rId5"/>
    <p:sldId id="258" r:id="rId6"/>
    <p:sldId id="303" r:id="rId7"/>
    <p:sldId id="259" r:id="rId8"/>
    <p:sldId id="309" r:id="rId9"/>
    <p:sldId id="308" r:id="rId10"/>
    <p:sldId id="261" r:id="rId11"/>
    <p:sldId id="310" r:id="rId12"/>
    <p:sldId id="311" r:id="rId13"/>
    <p:sldId id="313" r:id="rId14"/>
    <p:sldId id="314" r:id="rId15"/>
    <p:sldId id="315" r:id="rId16"/>
    <p:sldId id="317" r:id="rId17"/>
    <p:sldId id="318" r:id="rId18"/>
    <p:sldId id="316" r:id="rId19"/>
    <p:sldId id="269" r:id="rId20"/>
    <p:sldId id="320" r:id="rId21"/>
    <p:sldId id="324" r:id="rId22"/>
    <p:sldId id="325" r:id="rId23"/>
    <p:sldId id="326" r:id="rId24"/>
    <p:sldId id="327" r:id="rId25"/>
    <p:sldId id="328" r:id="rId26"/>
    <p:sldId id="330" r:id="rId27"/>
    <p:sldId id="335" r:id="rId28"/>
    <p:sldId id="333" r:id="rId29"/>
    <p:sldId id="332" r:id="rId30"/>
    <p:sldId id="301" r:id="rId31"/>
    <p:sldId id="302" r:id="rId32"/>
    <p:sldId id="305" r:id="rId33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953D"/>
    <a:srgbClr val="004492"/>
    <a:srgbClr val="FFFFFF"/>
    <a:srgbClr val="005DC4"/>
    <a:srgbClr val="EE7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4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4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B8603-F168-4293-AE02-38B8D4407F2C}" type="datetimeFigureOut">
              <a:rPr lang="fr-FR" smtClean="0"/>
              <a:t>22/05/2017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EC8ED-71C6-4E6F-A673-1924D0F04E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049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A2356-E161-48C6-974A-E0A2B3A6E478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29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1CD0E-760D-4202-B0C1-E7D5CF6BAA62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4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4051D-05F2-4EFF-BAA5-5AA6BE41474E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019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51B9-3C08-47E2-B3DF-FAB5241977DC}" type="datetime1">
              <a:rPr lang="fr-FR" smtClean="0"/>
              <a:t>22/05/2017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17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115EA-13E3-4C85-85DE-3CCFF6A9740B}" type="datetime1">
              <a:rPr lang="fr-FR" smtClean="0"/>
              <a:t>22/05/2017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346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67F48-8778-44AB-9E95-D19A6ABDAF43}" type="datetime1">
              <a:rPr lang="fr-FR" smtClean="0"/>
              <a:t>22/05/2017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753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C7F81-61AA-4D25-8AB3-DE0D31697BD5}" type="datetime1">
              <a:rPr lang="fr-FR" smtClean="0"/>
              <a:t>22/05/2017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100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0180-EC6F-44E5-B856-8B0D40ADA19F}" type="datetime1">
              <a:rPr lang="fr-FR" smtClean="0"/>
              <a:t>22/05/2017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33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A1EF-175C-4684-858C-4DA625CE5717}" type="datetime1">
              <a:rPr lang="fr-FR" smtClean="0"/>
              <a:t>22/05/2017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05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A7D4D-F8D9-43CD-9DB2-FDB2C5CB8AE3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066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BE3F5-26BA-4BFC-AFDC-3AC7FE105C9D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64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6C54A-DA3B-4E4A-92D2-3E89B5E318E2}" type="datetime1">
              <a:rPr lang="fr-FR" smtClean="0"/>
              <a:t>22/05/2017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68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1811318"/>
            <a:ext cx="9144000" cy="1646302"/>
          </a:xfrm>
        </p:spPr>
        <p:txBody>
          <a:bodyPr/>
          <a:lstStyle/>
          <a:p>
            <a:r>
              <a:rPr lang="fr-FR" sz="6000" b="1" dirty="0">
                <a:solidFill>
                  <a:srgbClr val="004492"/>
                </a:solidFill>
                <a:latin typeface="Eurostile-Roman" pitchFamily="2" charset="0"/>
              </a:rPr>
              <a:t>Soutenance de Stage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40327" y="3655828"/>
            <a:ext cx="8063345" cy="10968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500" dirty="0">
                <a:solidFill>
                  <a:srgbClr val="EE7B21"/>
                </a:solidFill>
                <a:latin typeface="Eurostile-Roman" pitchFamily="2" charset="0"/>
                <a:cs typeface="Microsoft New Tai Lue" panose="020B0502040204020203" pitchFamily="34" charset="0"/>
              </a:rPr>
              <a:t>Certification d’un vertical adapté aux besoins métiers des secteurs agricole, de la manutention et du levage.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77661" y="234648"/>
            <a:ext cx="271092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ALAPETITE</a:t>
            </a:r>
          </a:p>
          <a:p>
            <a:r>
              <a:rPr lang="fr-FR" sz="26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Florent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945" y="255058"/>
            <a:ext cx="1995055" cy="1556260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2988588" y="6010996"/>
            <a:ext cx="3850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4492"/>
                </a:solidFill>
                <a:latin typeface="Eurostile-Roman" pitchFamily="2" charset="0"/>
                <a:cs typeface="Microsoft New Tai Lue" panose="020B0502040204020203" pitchFamily="34" charset="0"/>
              </a:rPr>
              <a:t>Année universitaire 2016 - 2017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0" y="1641196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Maître de stage : M. DAGOIS</a:t>
            </a:r>
          </a:p>
          <a:p>
            <a:pPr algn="ctr"/>
            <a:r>
              <a:rPr lang="fr-FR" sz="1600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Professeur référent : Mme. SERRANO ALVARADO</a:t>
            </a:r>
          </a:p>
        </p:txBody>
      </p:sp>
      <p:pic>
        <p:nvPicPr>
          <p:cNvPr id="10" name="Image 9" descr="http://www.irem.sciences.univ-nantes.fr/pictures/logoUFR.jp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61" y="5451231"/>
            <a:ext cx="2242515" cy="11195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0456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96787" y="2102126"/>
            <a:ext cx="78867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Introduction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Présentation de l’entreprise </a:t>
            </a:r>
            <a:r>
              <a:rPr lang="fr-FR" sz="2600" dirty="0" err="1">
                <a:solidFill>
                  <a:srgbClr val="004492"/>
                </a:solidFill>
              </a:rPr>
              <a:t>Eskape</a:t>
            </a:r>
            <a:endParaRPr lang="fr-FR" sz="2600" dirty="0">
              <a:solidFill>
                <a:srgbClr val="004492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Sujet du stage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Développement de la solution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Bilan humain et technique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15315" y="188776"/>
            <a:ext cx="362932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1512130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117024" y="219493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Fin de Licence 3 Informatique : stage de 8 semaines</a:t>
            </a:r>
          </a:p>
          <a:p>
            <a:pPr marL="342900" lvl="1" indent="0">
              <a:lnSpc>
                <a:spcPct val="200000"/>
              </a:lnSpc>
              <a:buNone/>
            </a:pPr>
            <a:r>
              <a:rPr lang="fr-FR" sz="21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Partie intégrante de la formation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Réalisé au sein de l’entreprise </a:t>
            </a:r>
            <a:r>
              <a:rPr lang="fr-FR" sz="24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32" y="4548981"/>
            <a:ext cx="2078736" cy="1621536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8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43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018309" y="192477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</a:pPr>
            <a:r>
              <a:rPr lang="fr-FR" sz="2400" dirty="0">
                <a:solidFill>
                  <a:srgbClr val="004492"/>
                </a:solidFill>
                <a:latin typeface="Calibri (Corps)"/>
              </a:rPr>
              <a:t>Travail autour d’un projet majeur :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Calibri (Corps)"/>
              </a:rPr>
              <a:t>Certification d’un vertical développé par </a:t>
            </a:r>
            <a:r>
              <a:rPr lang="fr-FR" sz="21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250000"/>
              </a:lnSpc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604" y="4282068"/>
            <a:ext cx="4713244" cy="1178311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3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210" y="53794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-Roman" pitchFamily="2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SARL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Entreprise de services du numérique (ESN)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Fondée en 1998 par Laurent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Fontenit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Plusieurs pôles :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Développement ERP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Système et réseaux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Administratif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Marketing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6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20084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Projets : </a:t>
            </a:r>
            <a:r>
              <a:rPr lang="fr-FR" sz="2200" dirty="0">
                <a:solidFill>
                  <a:srgbClr val="FF0000"/>
                </a:solidFill>
                <a:latin typeface="Calibri (Corps)"/>
              </a:rPr>
              <a:t>ERP Microsoft Dynamics </a:t>
            </a:r>
            <a:r>
              <a:rPr lang="fr-FR" sz="2200" dirty="0" err="1">
                <a:solidFill>
                  <a:srgbClr val="FF0000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Mise en place</a:t>
            </a: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de modules spécifiques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122218" y="4010891"/>
            <a:ext cx="676448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Progiciel de gestion intégré de Microsoft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PME-PMI</a:t>
            </a:r>
          </a:p>
          <a:p>
            <a:pPr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	</a:t>
            </a:r>
            <a:endParaRPr lang="fr-FR" sz="1900" dirty="0">
              <a:latin typeface="Calibri (Corps)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89210" y="537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   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902" y="3509480"/>
            <a:ext cx="3043016" cy="1311505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89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96748" y="2188547"/>
            <a:ext cx="7886700" cy="4351338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spécifique développé pour un client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besoins exprimés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Installé et éprouvé 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28839"/>
            <a:ext cx="4713244" cy="1178311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7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9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91" y="1108688"/>
            <a:ext cx="5884682" cy="5604027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8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2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7300" y="1948661"/>
            <a:ext cx="7886700" cy="1948555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très spécifique mais …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… adapté pour toutes les entreprises de même profil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38369"/>
            <a:ext cx="4713244" cy="1178311"/>
          </a:xfrm>
          <a:prstGeom prst="rect">
            <a:avLst/>
          </a:prstGeom>
        </p:spPr>
      </p:pic>
      <p:sp>
        <p:nvSpPr>
          <p:cNvPr id="5" name="Espace réservé du contenu 2"/>
          <p:cNvSpPr txBox="1">
            <a:spLocks/>
          </p:cNvSpPr>
          <p:nvPr/>
        </p:nvSpPr>
        <p:spPr>
          <a:xfrm>
            <a:off x="959217" y="393148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2432069" y="4022680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8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Certification du vertical </a:t>
            </a:r>
            <a:r>
              <a:rPr lang="fr-FR" sz="2800" b="1" dirty="0" err="1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NAViDMS</a:t>
            </a:r>
            <a:endParaRPr lang="fr-FR" sz="28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9" name="Flèche : droite 8"/>
          <p:cNvSpPr/>
          <p:nvPr/>
        </p:nvSpPr>
        <p:spPr>
          <a:xfrm>
            <a:off x="1504361" y="4114800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9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222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4109" y="2176637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Officialise un module développé par un partenaire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Certifie que le module est viable et efficace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Rend le vertical disponible à la vente par les autres entreprises partenaires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7855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2889" y="2168862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Série de test réalisée par une entreprise externe à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Doit répondre à de nombreux critères </a:t>
            </a:r>
            <a:r>
              <a:rPr lang="fr-FR" sz="19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</a:t>
            </a:r>
            <a:r>
              <a:rPr lang="fr-FR" sz="1900" b="1" dirty="0" err="1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CfMD</a:t>
            </a:r>
            <a:r>
              <a:rPr lang="fr-FR" sz="19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Guidelines</a:t>
            </a:r>
          </a:p>
          <a:p>
            <a:pPr lvl="1"/>
            <a:endParaRPr lang="fr-FR" sz="1900" b="1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L’entreprise doit fournir 10 références clients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11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709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CFMD Guidelines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614652" y="293535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Document technique en anglais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Décrit point par point la certification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16" y="3060470"/>
            <a:ext cx="2249193" cy="2928773"/>
          </a:xfrm>
          <a:prstGeom prst="rect">
            <a:avLst/>
          </a:prstGeom>
        </p:spPr>
      </p:pic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12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079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136055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Travail principal : renumérotation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926858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Indispensable pour la certification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15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 Placer les identifiants des objets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dans la plage certifiée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20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0151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328500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Multitude d’objets de types différents :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Tables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Pages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 err="1">
                <a:solidFill>
                  <a:srgbClr val="004492"/>
                </a:solidFill>
                <a:latin typeface="Calibri (Corps)"/>
              </a:rPr>
              <a:t>Codeunit</a:t>
            </a:r>
            <a:endParaRPr lang="fr-FR" sz="17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…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stockés dans une base de données liée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717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264288" y="4220093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Exemple d’objets Dynamics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15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2" y="2664262"/>
            <a:ext cx="8898083" cy="144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17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327586" y="2655832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49 999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standards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50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spécifiques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certifiés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37463" y="1953762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940327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55714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473465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très liés entre eux (par l’identifiant)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Renumérotation impossible nativement sans perte de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730828" y="436012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50000"/>
              </a:lnSpc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Problématique :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migrer objets et champs spécifiques dans la plage certifiée.</a:t>
            </a:r>
          </a:p>
        </p:txBody>
      </p:sp>
    </p:spTree>
    <p:extLst>
      <p:ext uri="{BB962C8B-B14F-4D97-AF65-F5344CB8AC3E}">
        <p14:creationId xmlns:p14="http://schemas.microsoft.com/office/powerpoint/2010/main" val="1362145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238847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Outils de renumérotations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74508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Outils externes trop complexes / couteux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4010" y="4171580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Choix technique retenu :</a:t>
            </a: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1084118" y="4622943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Développement d’un outil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048848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utilisation de nouvelles technologies :</a:t>
            </a:r>
          </a:p>
        </p:txBody>
      </p:sp>
      <p:pic>
        <p:nvPicPr>
          <p:cNvPr id="2050" name="Picture 2" descr="http://www.guillaumebrout.fr/wp-content/uploads/2016/01/2p4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103" y="3156333"/>
            <a:ext cx="1579707" cy="15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020292" y="296964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de programmation orienté objet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propriétaire : Microsoft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Similitudes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C++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JAVA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871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022983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de renumérotation :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20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Cylindre 5"/>
          <p:cNvSpPr/>
          <p:nvPr/>
        </p:nvSpPr>
        <p:spPr>
          <a:xfrm>
            <a:off x="1109421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49690" y="3818442"/>
            <a:ext cx="1831276" cy="685808"/>
          </a:xfrm>
          <a:prstGeom prst="rect">
            <a:avLst/>
          </a:prstGeom>
          <a:solidFill>
            <a:schemeClr val="bg1"/>
          </a:solidFill>
          <a:ln w="28575">
            <a:solidFill>
              <a:srgbClr val="6195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61953D"/>
                </a:solidFill>
              </a:rPr>
              <a:t>Renumérotation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1971739" y="4161346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Export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Connecteur droit avec flèche 11"/>
          <p:cNvCxnSpPr>
            <a:stCxn id="6" idx="4"/>
            <a:endCxn id="9" idx="1"/>
          </p:cNvCxnSpPr>
          <p:nvPr/>
        </p:nvCxnSpPr>
        <p:spPr>
          <a:xfrm>
            <a:off x="1925105" y="4161346"/>
            <a:ext cx="172458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696323" y="4522624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Outil de Migration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4" name="Connecteur droit avec flèche 13"/>
          <p:cNvCxnSpPr>
            <a:endCxn id="16" idx="2"/>
          </p:cNvCxnSpPr>
          <p:nvPr/>
        </p:nvCxnSpPr>
        <p:spPr>
          <a:xfrm>
            <a:off x="5480965" y="4161346"/>
            <a:ext cx="160393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5360315" y="4195792"/>
            <a:ext cx="17846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Import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rgbClr val="FF0000"/>
              </a:solidFill>
            </a:endParaRP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" name="Cylindre 15"/>
          <p:cNvSpPr/>
          <p:nvPr/>
        </p:nvSpPr>
        <p:spPr>
          <a:xfrm>
            <a:off x="7084900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</p:spTree>
    <p:extLst>
      <p:ext uri="{BB962C8B-B14F-4D97-AF65-F5344CB8AC3E}">
        <p14:creationId xmlns:p14="http://schemas.microsoft.com/office/powerpoint/2010/main" val="3180818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21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322" y="1471960"/>
            <a:ext cx="5001725" cy="507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76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19025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Développement d’un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de migration des données :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796851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Langage C/AL : très orienté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par transfert de données entre tables 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Boucle sur toutes les tables à </a:t>
            </a:r>
            <a:r>
              <a:rPr lang="fr-FR" sz="2000">
                <a:solidFill>
                  <a:srgbClr val="004492"/>
                </a:solidFill>
                <a:latin typeface="Calibri (Corps)"/>
              </a:rPr>
              <a:t>migrer :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6958140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23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08989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Enrichissement du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migration spécifique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696492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précédente : migration générale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Ajout de méthodes de migration spécifique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1084118" y="4436238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Modification d’identifiants stockés avec nouveaux ID</a:t>
            </a:r>
          </a:p>
        </p:txBody>
      </p:sp>
    </p:spTree>
    <p:extLst>
      <p:ext uri="{BB962C8B-B14F-4D97-AF65-F5344CB8AC3E}">
        <p14:creationId xmlns:p14="http://schemas.microsoft.com/office/powerpoint/2010/main" val="2589673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24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3003857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Vertical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: conçu comme un module spécifique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Certains identifiants écrits en dur dans les codes C/AL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181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61413" y="520056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Impossibles à identifier / renuméroter automatiquement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5197735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d’analyse d’objets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473577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25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5"/>
            <a:ext cx="8059882" cy="2789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Développer un outil d’analyse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Faire remonter les lignes potentiellement problématiques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Intégrer l’outil d’analyse dans un outil plus global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retenue : </a:t>
            </a:r>
          </a:p>
        </p:txBody>
      </p:sp>
    </p:spTree>
    <p:extLst>
      <p:ext uri="{BB962C8B-B14F-4D97-AF65-F5344CB8AC3E}">
        <p14:creationId xmlns:p14="http://schemas.microsoft.com/office/powerpoint/2010/main" val="3465901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0" t="4305" b="4305"/>
          <a:stretch/>
        </p:blipFill>
        <p:spPr>
          <a:xfrm>
            <a:off x="1728440" y="1524969"/>
            <a:ext cx="6077414" cy="4886686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889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914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d’ajout de Version List</a:t>
            </a:r>
          </a:p>
        </p:txBody>
      </p:sp>
      <p:sp>
        <p:nvSpPr>
          <p:cNvPr id="14" name="Espace réservé du contenu 30"/>
          <p:cNvSpPr txBox="1">
            <a:spLocks/>
          </p:cNvSpPr>
          <p:nvPr/>
        </p:nvSpPr>
        <p:spPr>
          <a:xfrm>
            <a:off x="1084118" y="2987697"/>
            <a:ext cx="8059882" cy="1840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regroupe objets d’un même vertical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comporte un numéro de version du vertical</a:t>
            </a: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7" name="Espace réservé du contenu 2"/>
          <p:cNvSpPr txBox="1">
            <a:spLocks/>
          </p:cNvSpPr>
          <p:nvPr/>
        </p:nvSpPr>
        <p:spPr>
          <a:xfrm>
            <a:off x="1972902" y="506280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Indispensable pour passer le test de certification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8" name="Flèche : droite 17"/>
          <p:cNvSpPr/>
          <p:nvPr/>
        </p:nvSpPr>
        <p:spPr>
          <a:xfrm>
            <a:off x="1064603" y="5062802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4672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28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45" y="2497873"/>
            <a:ext cx="7544713" cy="5515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/>
          <p:cNvSpPr/>
          <p:nvPr/>
        </p:nvSpPr>
        <p:spPr>
          <a:xfrm>
            <a:off x="6367346" y="2497873"/>
            <a:ext cx="1834612" cy="5515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6593630" y="1870125"/>
            <a:ext cx="177313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200" dirty="0">
                <a:solidFill>
                  <a:srgbClr val="FF0000"/>
                </a:solidFill>
                <a:latin typeface="Calibri (Corps)"/>
              </a:rPr>
              <a:t>Version List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875" y="3985145"/>
            <a:ext cx="3153215" cy="122889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Connecteur : en angle 24"/>
          <p:cNvCxnSpPr>
            <a:stCxn id="3" idx="2"/>
          </p:cNvCxnSpPr>
          <p:nvPr/>
        </p:nvCxnSpPr>
        <p:spPr>
          <a:xfrm rot="5400000">
            <a:off x="5252810" y="2874697"/>
            <a:ext cx="1857123" cy="2206562"/>
          </a:xfrm>
          <a:prstGeom prst="bentConnector2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189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29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6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nouveaux objets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objets standards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modifiés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Problématique de la Version List : 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72564" y="4839778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Comparer chaque objet standard avec un objet de référence</a:t>
            </a:r>
            <a:endParaRPr lang="fr-FR" sz="20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4839778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44015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483301" y="2039055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Expérience très enrichissante et motivante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Projet à la fois technique, complet et intéressant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des compétences acquises à l’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lUT</a:t>
            </a: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Découverte de technologies spécifiques 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6225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161183" y="1987101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Stage de 10 semaines : atout pour le parcours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Premier pas dans le monde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Me conforte dans mon envie de me diriger vers les métiers du développement de projets informatiques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42975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0"/>
          <p:cNvSpPr txBox="1">
            <a:spLocks/>
          </p:cNvSpPr>
          <p:nvPr/>
        </p:nvSpPr>
        <p:spPr>
          <a:xfrm>
            <a:off x="0" y="2018273"/>
            <a:ext cx="9144000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50000"/>
              </a:lnSpc>
              <a:buNone/>
            </a:pPr>
            <a:r>
              <a:rPr lang="fr-FR" sz="5500" b="1" dirty="0">
                <a:solidFill>
                  <a:srgbClr val="004492"/>
                </a:solidFill>
                <a:latin typeface="Eurostile" panose="020B0504020202050204" pitchFamily="34" charset="0"/>
              </a:rPr>
              <a:t>Merci de votre attention</a:t>
            </a:r>
            <a:endParaRPr lang="fr-FR" sz="5500" b="1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86024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1984</TotalTime>
  <Words>775</Words>
  <Application>Microsoft Office PowerPoint</Application>
  <PresentationFormat>Affichage à l'écran (4:3)</PresentationFormat>
  <Paragraphs>206</Paragraphs>
  <Slides>32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41" baseType="lpstr">
      <vt:lpstr>Arial</vt:lpstr>
      <vt:lpstr>Calibri</vt:lpstr>
      <vt:lpstr>Calibri (Corps)</vt:lpstr>
      <vt:lpstr>Calibri Light</vt:lpstr>
      <vt:lpstr>Eurostile</vt:lpstr>
      <vt:lpstr>Eurostile-Roman</vt:lpstr>
      <vt:lpstr>Microsoft New Tai Lue</vt:lpstr>
      <vt:lpstr>Wingdings</vt:lpstr>
      <vt:lpstr>Thème Office</vt:lpstr>
      <vt:lpstr>Soutenance de Stage</vt:lpstr>
      <vt:lpstr>Présentation PowerPoint</vt:lpstr>
      <vt:lpstr>Présentation PowerPoint</vt:lpstr>
      <vt:lpstr>Présentation PowerPoint</vt:lpstr>
      <vt:lpstr>Présentation de l’entreprise    Eskape</vt:lpstr>
      <vt:lpstr>Présentation PowerPoint</vt:lpstr>
      <vt:lpstr>Sujet du stage</vt:lpstr>
      <vt:lpstr>Sujet du stage</vt:lpstr>
      <vt:lpstr>Sujet du stage</vt:lpstr>
      <vt:lpstr>Certification  CFMD</vt:lpstr>
      <vt:lpstr>Certification  CFMD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Bilan humain et technique</vt:lpstr>
      <vt:lpstr>Bilan humain et technique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</dc:title>
  <dc:creator>Florent ALAPETITE</dc:creator>
  <cp:lastModifiedBy>Florent ALAPETITE</cp:lastModifiedBy>
  <cp:revision>147</cp:revision>
  <dcterms:created xsi:type="dcterms:W3CDTF">2016-05-18T12:20:50Z</dcterms:created>
  <dcterms:modified xsi:type="dcterms:W3CDTF">2017-05-22T14:07:19Z</dcterms:modified>
</cp:coreProperties>
</file>
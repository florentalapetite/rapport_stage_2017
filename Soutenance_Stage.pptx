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4" r:id="rId1"/>
  </p:sldMasterIdLst>
  <p:notesMasterIdLst>
    <p:notesMasterId r:id="rId37"/>
  </p:notesMasterIdLst>
  <p:sldIdLst>
    <p:sldId id="256" r:id="rId2"/>
    <p:sldId id="257" r:id="rId3"/>
    <p:sldId id="264" r:id="rId4"/>
    <p:sldId id="306" r:id="rId5"/>
    <p:sldId id="258" r:id="rId6"/>
    <p:sldId id="303" r:id="rId7"/>
    <p:sldId id="259" r:id="rId8"/>
    <p:sldId id="309" r:id="rId9"/>
    <p:sldId id="308" r:id="rId10"/>
    <p:sldId id="261" r:id="rId11"/>
    <p:sldId id="310" r:id="rId12"/>
    <p:sldId id="311" r:id="rId13"/>
    <p:sldId id="313" r:id="rId14"/>
    <p:sldId id="314" r:id="rId15"/>
    <p:sldId id="315" r:id="rId16"/>
    <p:sldId id="317" r:id="rId17"/>
    <p:sldId id="318" r:id="rId18"/>
    <p:sldId id="316" r:id="rId19"/>
    <p:sldId id="269" r:id="rId20"/>
    <p:sldId id="320" r:id="rId21"/>
    <p:sldId id="324" r:id="rId22"/>
    <p:sldId id="340" r:id="rId23"/>
    <p:sldId id="325" r:id="rId24"/>
    <p:sldId id="326" r:id="rId25"/>
    <p:sldId id="327" r:id="rId26"/>
    <p:sldId id="328" r:id="rId27"/>
    <p:sldId id="338" r:id="rId28"/>
    <p:sldId id="335" r:id="rId29"/>
    <p:sldId id="333" r:id="rId30"/>
    <p:sldId id="332" r:id="rId31"/>
    <p:sldId id="337" r:id="rId32"/>
    <p:sldId id="336" r:id="rId33"/>
    <p:sldId id="301" r:id="rId34"/>
    <p:sldId id="302" r:id="rId35"/>
    <p:sldId id="305" r:id="rId3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92"/>
    <a:srgbClr val="61953D"/>
    <a:srgbClr val="FFFFFF"/>
    <a:srgbClr val="005DC4"/>
    <a:srgbClr val="EE7B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64" autoAdjust="0"/>
    <p:restoredTop sz="94660"/>
  </p:normalViewPr>
  <p:slideViewPr>
    <p:cSldViewPr snapToGrid="0">
      <p:cViewPr varScale="1">
        <p:scale>
          <a:sx n="86" d="100"/>
          <a:sy n="86" d="100"/>
        </p:scale>
        <p:origin x="104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6B8603-F168-4293-AE02-38B8D4407F2C}" type="datetimeFigureOut">
              <a:rPr lang="fr-FR" smtClean="0"/>
              <a:t>30/05/2017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AEC8ED-71C6-4E6F-A673-1924D0F04E0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0495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1A2356-E161-48C6-974A-E0A2B3A6E478}" type="datetime1">
              <a:rPr lang="fr-FR" smtClean="0"/>
              <a:t>30/05/2017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1029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1CD0E-760D-4202-B0C1-E7D5CF6BAA62}" type="datetime1">
              <a:rPr lang="fr-FR" smtClean="0"/>
              <a:t>30/05/2017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6469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4051D-05F2-4EFF-BAA5-5AA6BE41474E}" type="datetime1">
              <a:rPr lang="fr-FR" smtClean="0"/>
              <a:t>30/05/2017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01967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51B9-3C08-47E2-B3DF-FAB5241977DC}" type="datetime1">
              <a:rPr lang="fr-FR" smtClean="0"/>
              <a:t>30/05/2017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171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115EA-13E3-4C85-85DE-3CCFF6A9740B}" type="datetime1">
              <a:rPr lang="fr-FR" smtClean="0"/>
              <a:t>30/05/2017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3467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67F48-8778-44AB-9E95-D19A6ABDAF43}" type="datetime1">
              <a:rPr lang="fr-FR" smtClean="0"/>
              <a:t>30/05/2017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5753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3C7F81-61AA-4D25-8AB3-DE0D31697BD5}" type="datetime1">
              <a:rPr lang="fr-FR" smtClean="0"/>
              <a:t>30/05/2017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100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CB0180-EC6F-44E5-B856-8B0D40ADA19F}" type="datetime1">
              <a:rPr lang="fr-FR" smtClean="0"/>
              <a:t>30/05/2017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8332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5DA1EF-175C-4684-858C-4DA625CE5717}" type="datetime1">
              <a:rPr lang="fr-FR" smtClean="0"/>
              <a:t>30/05/2017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9054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A7D4D-F8D9-43CD-9DB2-FDB2C5CB8AE3}" type="datetime1">
              <a:rPr lang="fr-FR" smtClean="0"/>
              <a:t>30/05/2017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70661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BE3F5-26BA-4BFC-AFDC-3AC7FE105C9D}" type="datetime1">
              <a:rPr lang="fr-FR" smtClean="0"/>
              <a:t>30/05/2017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8649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6C54A-DA3B-4E4A-92D2-3E89B5E318E2}" type="datetime1">
              <a:rPr lang="fr-FR" smtClean="0"/>
              <a:t>30/05/2017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AF257-D28F-495E-9E53-3BED59B8AA3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70688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0" y="1746868"/>
            <a:ext cx="9144000" cy="1646302"/>
          </a:xfrm>
        </p:spPr>
        <p:txBody>
          <a:bodyPr/>
          <a:lstStyle/>
          <a:p>
            <a:r>
              <a:rPr lang="fr-FR" sz="6000" b="1" dirty="0">
                <a:solidFill>
                  <a:srgbClr val="004492"/>
                </a:solidFill>
                <a:latin typeface="Eurostile-Roman" pitchFamily="2" charset="0"/>
              </a:rPr>
              <a:t>Soutenance de Stage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540327" y="3655828"/>
            <a:ext cx="8063345" cy="1096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500" dirty="0">
                <a:solidFill>
                  <a:srgbClr val="EE7B21"/>
                </a:solidFill>
                <a:latin typeface="Eurostile-Roman" pitchFamily="2" charset="0"/>
                <a:cs typeface="Microsoft New Tai Lue" panose="020B0502040204020203" pitchFamily="34" charset="0"/>
              </a:rPr>
              <a:t>Certification d’un vertical adapté aux besoins métiers des secteurs agricole, de la manutention et du levage.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77661" y="234648"/>
            <a:ext cx="27109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solidFill>
                  <a:schemeClr val="bg1"/>
                </a:solidFill>
                <a:latin typeface="Eurostile-Roman" pitchFamily="2" charset="0"/>
                <a:cs typeface="Microsoft New Tai Lue" panose="020B0502040204020203" pitchFamily="34" charset="0"/>
              </a:rPr>
              <a:t>ALAPETITE</a:t>
            </a:r>
          </a:p>
          <a:p>
            <a:r>
              <a:rPr lang="fr-FR" sz="2800" dirty="0">
                <a:solidFill>
                  <a:schemeClr val="bg1"/>
                </a:solidFill>
                <a:latin typeface="Eurostile-Roman" pitchFamily="2" charset="0"/>
                <a:cs typeface="Microsoft New Tai Lue" panose="020B0502040204020203" pitchFamily="34" charset="0"/>
              </a:rPr>
              <a:t>Florent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945" y="255058"/>
            <a:ext cx="1995055" cy="1556260"/>
          </a:xfrm>
          <a:prstGeom prst="rect">
            <a:avLst/>
          </a:prstGeom>
        </p:spPr>
      </p:pic>
      <p:sp>
        <p:nvSpPr>
          <p:cNvPr id="8" name="ZoneTexte 7"/>
          <p:cNvSpPr txBox="1"/>
          <p:nvPr/>
        </p:nvSpPr>
        <p:spPr>
          <a:xfrm>
            <a:off x="2988588" y="6010996"/>
            <a:ext cx="38509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rgbClr val="004492"/>
                </a:solidFill>
                <a:latin typeface="Eurostile-Roman" pitchFamily="2" charset="0"/>
                <a:cs typeface="Microsoft New Tai Lue" panose="020B0502040204020203" pitchFamily="34" charset="0"/>
              </a:rPr>
              <a:t>Année universitaire 2016 - 2017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0" y="1641196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005DC4"/>
                </a:solidFill>
                <a:latin typeface="Eurostile-Roman" pitchFamily="2" charset="0"/>
                <a:cs typeface="Microsoft New Tai Lue" panose="020B0502040204020203" pitchFamily="34" charset="0"/>
              </a:rPr>
              <a:t>Maître de stage : M. DAGOIS</a:t>
            </a:r>
          </a:p>
          <a:p>
            <a:pPr algn="ctr"/>
            <a:r>
              <a:rPr lang="fr-FR" dirty="0">
                <a:solidFill>
                  <a:srgbClr val="005DC4"/>
                </a:solidFill>
                <a:latin typeface="Eurostile-Roman" pitchFamily="2" charset="0"/>
                <a:cs typeface="Microsoft New Tai Lue" panose="020B0502040204020203" pitchFamily="34" charset="0"/>
              </a:rPr>
              <a:t>Professeur référent : Mme. SERRANO ALVARADO</a:t>
            </a:r>
          </a:p>
        </p:txBody>
      </p:sp>
      <p:pic>
        <p:nvPicPr>
          <p:cNvPr id="10" name="Image 9" descr="http://www.irem.sciences.univ-nantes.fr/pictures/logoUFR.jpg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661" y="5451231"/>
            <a:ext cx="2242515" cy="11195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50456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19090" y="2090974"/>
            <a:ext cx="7886700" cy="4351338"/>
          </a:xfrm>
        </p:spPr>
        <p:txBody>
          <a:bodyPr>
            <a:norm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>
                <a:solidFill>
                  <a:srgbClr val="004492"/>
                </a:solidFill>
              </a:rPr>
              <a:t>Introduction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>
                <a:solidFill>
                  <a:srgbClr val="004492"/>
                </a:solidFill>
              </a:rPr>
              <a:t>Présentation de l’entreprise </a:t>
            </a:r>
            <a:r>
              <a:rPr lang="fr-FR" sz="2600" dirty="0" err="1">
                <a:solidFill>
                  <a:srgbClr val="004492"/>
                </a:solidFill>
              </a:rPr>
              <a:t>Eskape</a:t>
            </a:r>
            <a:endParaRPr lang="fr-FR" sz="2600" dirty="0">
              <a:solidFill>
                <a:srgbClr val="004492"/>
              </a:solidFill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>
                <a:solidFill>
                  <a:srgbClr val="004492"/>
                </a:solidFill>
              </a:rPr>
              <a:t>Sujet du stage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>
                <a:solidFill>
                  <a:srgbClr val="004492"/>
                </a:solidFill>
              </a:rPr>
              <a:t>Développement de la solution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fr-FR" sz="2600" dirty="0">
                <a:solidFill>
                  <a:srgbClr val="004492"/>
                </a:solidFill>
              </a:rPr>
              <a:t>Bilan humain et technique</a:t>
            </a:r>
          </a:p>
        </p:txBody>
      </p:sp>
      <p:sp>
        <p:nvSpPr>
          <p:cNvPr id="4" name="ZoneTexte 3"/>
          <p:cNvSpPr txBox="1"/>
          <p:nvPr/>
        </p:nvSpPr>
        <p:spPr>
          <a:xfrm>
            <a:off x="215315" y="188776"/>
            <a:ext cx="3629321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500" dirty="0">
                <a:solidFill>
                  <a:schemeClr val="bg1"/>
                </a:solidFill>
                <a:latin typeface="Eurostile-Roman" pitchFamily="2" charset="0"/>
                <a:cs typeface="Microsoft New Tai Lue" panose="020B0502040204020203" pitchFamily="34" charset="0"/>
              </a:rPr>
              <a:t>Sommaire</a:t>
            </a:r>
          </a:p>
        </p:txBody>
      </p:sp>
    </p:spTree>
    <p:extLst>
      <p:ext uri="{BB962C8B-B14F-4D97-AF65-F5344CB8AC3E}">
        <p14:creationId xmlns:p14="http://schemas.microsoft.com/office/powerpoint/2010/main" val="1512130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1117024" y="2194934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400" dirty="0">
                <a:solidFill>
                  <a:srgbClr val="004492"/>
                </a:solidFill>
                <a:latin typeface="Calibri (Corps)"/>
              </a:rPr>
              <a:t>Fin de Licence 3 Informatique : stage de 8 semaines</a:t>
            </a:r>
          </a:p>
          <a:p>
            <a:pPr marL="342900" lvl="1" indent="0">
              <a:lnSpc>
                <a:spcPct val="200000"/>
              </a:lnSpc>
              <a:buNone/>
            </a:pPr>
            <a:r>
              <a:rPr lang="fr-FR" sz="21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 Partie intégrante de la formation</a:t>
            </a:r>
            <a:endParaRPr lang="fr-FR" sz="2100" dirty="0">
              <a:solidFill>
                <a:srgbClr val="004492"/>
              </a:solidFill>
              <a:latin typeface="Calibri (Corps)"/>
            </a:endParaRPr>
          </a:p>
          <a:p>
            <a:pPr marL="342900" lvl="1" indent="0">
              <a:buNone/>
            </a:pPr>
            <a:endParaRPr lang="fr-FR" sz="2400" dirty="0">
              <a:solidFill>
                <a:srgbClr val="004492"/>
              </a:solidFill>
              <a:latin typeface="Calibri (Corps)"/>
            </a:endParaRPr>
          </a:p>
          <a:p>
            <a:r>
              <a:rPr lang="fr-FR" sz="2400" dirty="0">
                <a:solidFill>
                  <a:srgbClr val="004492"/>
                </a:solidFill>
                <a:latin typeface="Calibri (Corps)"/>
              </a:rPr>
              <a:t>Réalisé au sein de l’entreprise </a:t>
            </a:r>
            <a:r>
              <a:rPr lang="fr-FR" sz="2400" dirty="0" err="1">
                <a:solidFill>
                  <a:srgbClr val="004492"/>
                </a:solidFill>
                <a:latin typeface="Calibri (Corps)"/>
              </a:rPr>
              <a:t>Eskape</a:t>
            </a:r>
            <a:endParaRPr lang="fr-FR" sz="2400" dirty="0">
              <a:solidFill>
                <a:srgbClr val="004492"/>
              </a:solidFill>
              <a:latin typeface="Calibri (Corps)"/>
            </a:endParaRPr>
          </a:p>
          <a:p>
            <a:endParaRPr lang="fr-FR" sz="2400" dirty="0">
              <a:solidFill>
                <a:srgbClr val="004492"/>
              </a:solidFill>
              <a:latin typeface="Calibri (Corps)"/>
            </a:endParaRPr>
          </a:p>
          <a:p>
            <a:pPr lvl="1"/>
            <a:endParaRPr lang="fr-FR" sz="2400" dirty="0">
              <a:solidFill>
                <a:srgbClr val="004492"/>
              </a:solidFill>
              <a:latin typeface="Calibri (Corps)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sz="2400" dirty="0">
              <a:solidFill>
                <a:srgbClr val="004492"/>
              </a:solidFill>
              <a:latin typeface="Calibri (Corps)"/>
            </a:endParaRPr>
          </a:p>
          <a:p>
            <a:endParaRPr lang="fr-FR" sz="2400" dirty="0">
              <a:solidFill>
                <a:srgbClr val="004492"/>
              </a:solidFill>
              <a:latin typeface="Calibri (Corps)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632" y="4548981"/>
            <a:ext cx="2078736" cy="1621536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182621" y="109957"/>
            <a:ext cx="38059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500" dirty="0">
                <a:solidFill>
                  <a:schemeClr val="bg1"/>
                </a:solidFill>
                <a:latin typeface="Eurostile-Roman" pitchFamily="2" charset="0"/>
                <a:cs typeface="Microsoft New Tai Lue" panose="020B0502040204020203" pitchFamily="34" charset="0"/>
              </a:rPr>
              <a:t>Introduction</a:t>
            </a:r>
          </a:p>
        </p:txBody>
      </p:sp>
      <p:sp>
        <p:nvSpPr>
          <p:cNvPr id="8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3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433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2"/>
          <p:cNvSpPr txBox="1">
            <a:spLocks/>
          </p:cNvSpPr>
          <p:nvPr/>
        </p:nvSpPr>
        <p:spPr>
          <a:xfrm>
            <a:off x="1018309" y="192477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</a:pPr>
            <a:r>
              <a:rPr lang="fr-FR" sz="2400" dirty="0">
                <a:solidFill>
                  <a:srgbClr val="004492"/>
                </a:solidFill>
                <a:latin typeface="Calibri (Corps)"/>
              </a:rPr>
              <a:t>Travail autour d’un projet majeur :</a:t>
            </a:r>
          </a:p>
          <a:p>
            <a:pPr lvl="1">
              <a:lnSpc>
                <a:spcPct val="250000"/>
              </a:lnSpc>
            </a:pPr>
            <a:r>
              <a:rPr lang="fr-FR" sz="2100" dirty="0">
                <a:solidFill>
                  <a:srgbClr val="004492"/>
                </a:solidFill>
                <a:latin typeface="Calibri (Corps)"/>
              </a:rPr>
              <a:t>Certification d’un vertical développé par </a:t>
            </a:r>
            <a:r>
              <a:rPr lang="fr-FR" sz="2100" dirty="0" err="1">
                <a:solidFill>
                  <a:srgbClr val="004492"/>
                </a:solidFill>
                <a:latin typeface="Calibri (Corps)"/>
              </a:rPr>
              <a:t>Eskape</a:t>
            </a:r>
            <a:endParaRPr lang="fr-FR" sz="2100" dirty="0">
              <a:solidFill>
                <a:srgbClr val="004492"/>
              </a:solidFill>
              <a:latin typeface="Calibri (Corps)"/>
            </a:endParaRPr>
          </a:p>
          <a:p>
            <a:pPr>
              <a:lnSpc>
                <a:spcPct val="250000"/>
              </a:lnSpc>
            </a:pPr>
            <a:endParaRPr lang="fr-FR" sz="24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182621" y="109957"/>
            <a:ext cx="380596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5500" dirty="0">
                <a:solidFill>
                  <a:schemeClr val="bg1"/>
                </a:solidFill>
                <a:latin typeface="Eurostile-Roman" pitchFamily="2" charset="0"/>
                <a:cs typeface="Microsoft New Tai Lue" panose="020B0502040204020203" pitchFamily="34" charset="0"/>
              </a:rPr>
              <a:t>Introduction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5604" y="4282068"/>
            <a:ext cx="4713244" cy="1178311"/>
          </a:xfrm>
          <a:prstGeom prst="rect">
            <a:avLst/>
          </a:prstGeom>
        </p:spPr>
      </p:pic>
      <p:sp>
        <p:nvSpPr>
          <p:cNvPr id="10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4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543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9210" y="53794"/>
            <a:ext cx="78867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  <a:latin typeface="Eurostile-Roman" pitchFamily="2" charset="0"/>
              </a:rPr>
              <a:t>Présentation de l’entreprise</a:t>
            </a:r>
            <a:br>
              <a:rPr lang="fr-FR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dirty="0">
                <a:solidFill>
                  <a:schemeClr val="bg1"/>
                </a:solidFill>
                <a:latin typeface="Eurostile-Roman" pitchFamily="2" charset="0"/>
              </a:rPr>
              <a:t>   </a:t>
            </a:r>
            <a:r>
              <a:rPr lang="fr-FR" dirty="0" err="1">
                <a:solidFill>
                  <a:schemeClr val="bg1"/>
                </a:solidFill>
                <a:latin typeface="Eurostile-Roman" pitchFamily="2" charset="0"/>
              </a:rPr>
              <a:t>Eskape</a:t>
            </a:r>
            <a:endParaRPr lang="fr-FR" dirty="0">
              <a:solidFill>
                <a:schemeClr val="bg1"/>
              </a:solidFill>
              <a:latin typeface="Eurostile-Roman" pitchFamily="2" charset="0"/>
            </a:endParaRP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69" y="662781"/>
            <a:ext cx="2078736" cy="1621536"/>
          </a:xfrm>
          <a:prstGeom prst="rect">
            <a:avLst/>
          </a:prstGeom>
        </p:spPr>
      </p:pic>
      <p:sp>
        <p:nvSpPr>
          <p:cNvPr id="4" name="Espace réservé du contenu 2"/>
          <p:cNvSpPr txBox="1">
            <a:spLocks/>
          </p:cNvSpPr>
          <p:nvPr/>
        </p:nvSpPr>
        <p:spPr>
          <a:xfrm>
            <a:off x="1122218" y="2095933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200" dirty="0">
                <a:solidFill>
                  <a:srgbClr val="004492"/>
                </a:solidFill>
                <a:latin typeface="Calibri (Corps)"/>
              </a:rPr>
              <a:t>SARL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Eskape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</a:t>
            </a:r>
          </a:p>
          <a:p>
            <a:pPr lvl="1">
              <a:lnSpc>
                <a:spcPct val="200000"/>
              </a:lnSpc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Entreprise de services du numérique (ESN)</a:t>
            </a:r>
          </a:p>
          <a:p>
            <a:pPr lvl="1">
              <a:lnSpc>
                <a:spcPct val="200000"/>
              </a:lnSpc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Fondée en 1998 par Laurent </a:t>
            </a:r>
            <a:r>
              <a:rPr lang="fr-FR" sz="2000" dirty="0" err="1">
                <a:solidFill>
                  <a:srgbClr val="004492"/>
                </a:solidFill>
                <a:latin typeface="Calibri (Corps)"/>
              </a:rPr>
              <a:t>Fontenit</a:t>
            </a: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00000"/>
              </a:lnSpc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Plusieurs pôles :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rgbClr val="004492"/>
                </a:solidFill>
                <a:latin typeface="Calibri (Corps)"/>
              </a:rPr>
              <a:t>Développement ERP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rgbClr val="004492"/>
                </a:solidFill>
                <a:latin typeface="Calibri (Corps)"/>
              </a:rPr>
              <a:t>Système et réseaux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rgbClr val="004492"/>
                </a:solidFill>
                <a:latin typeface="Calibri (Corps)"/>
              </a:rPr>
              <a:t>Administratif</a:t>
            </a:r>
          </a:p>
          <a:p>
            <a:pPr lvl="2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rgbClr val="004492"/>
                </a:solidFill>
                <a:latin typeface="Calibri (Corps)"/>
              </a:rPr>
              <a:t>Marketing</a:t>
            </a:r>
          </a:p>
          <a:p>
            <a:pPr lvl="1"/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pPr marL="914400" lvl="2" indent="0">
              <a:buFont typeface="Arial" panose="020B0604020202020204" pitchFamily="34" charset="0"/>
              <a:buNone/>
            </a:pPr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endParaRPr lang="fr-FR" sz="22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7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5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869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8569" y="662781"/>
            <a:ext cx="2078736" cy="1621536"/>
          </a:xfrm>
          <a:prstGeom prst="rect">
            <a:avLst/>
          </a:prstGeom>
        </p:spPr>
      </p:pic>
      <p:sp>
        <p:nvSpPr>
          <p:cNvPr id="4" name="Espace réservé du contenu 2"/>
          <p:cNvSpPr txBox="1">
            <a:spLocks/>
          </p:cNvSpPr>
          <p:nvPr/>
        </p:nvSpPr>
        <p:spPr>
          <a:xfrm>
            <a:off x="1122218" y="2095933"/>
            <a:ext cx="7886700" cy="20084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200" dirty="0">
                <a:solidFill>
                  <a:srgbClr val="004492"/>
                </a:solidFill>
                <a:latin typeface="Calibri (Corps)"/>
              </a:rPr>
              <a:t>Projets : </a:t>
            </a:r>
            <a:r>
              <a:rPr lang="fr-FR" sz="2200" dirty="0">
                <a:solidFill>
                  <a:srgbClr val="FF0000"/>
                </a:solidFill>
                <a:latin typeface="Calibri (Corps)"/>
              </a:rPr>
              <a:t>ERP Microsoft Dynamics </a:t>
            </a:r>
            <a:r>
              <a:rPr lang="fr-FR" sz="2200" dirty="0" err="1">
                <a:solidFill>
                  <a:srgbClr val="FF0000"/>
                </a:solidFill>
                <a:latin typeface="Calibri (Corps)"/>
              </a:rPr>
              <a:t>Nav</a:t>
            </a:r>
            <a:endParaRPr lang="fr-FR" sz="2200" dirty="0">
              <a:solidFill>
                <a:srgbClr val="FF0000"/>
              </a:solidFill>
              <a:latin typeface="Calibri (Corps)"/>
            </a:endParaRPr>
          </a:p>
          <a:p>
            <a:pPr lvl="1">
              <a:lnSpc>
                <a:spcPct val="200000"/>
              </a:lnSpc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Mise en place</a:t>
            </a:r>
          </a:p>
          <a:p>
            <a:pPr lvl="1">
              <a:lnSpc>
                <a:spcPct val="200000"/>
              </a:lnSpc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Développement de modules spécifiques</a:t>
            </a:r>
          </a:p>
          <a:p>
            <a:pPr marL="914400" lvl="2" indent="0">
              <a:buFont typeface="Arial" panose="020B0604020202020204" pitchFamily="34" charset="0"/>
              <a:buNone/>
            </a:pPr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endParaRPr lang="fr-FR" sz="22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122218" y="4010891"/>
            <a:ext cx="6764482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Dynamics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Nav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Progiciel de gestion intégré de Microsoft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Adapté aux PME-PMI</a:t>
            </a:r>
          </a:p>
          <a:p>
            <a:pPr>
              <a:lnSpc>
                <a:spcPct val="200000"/>
              </a:lnSpc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	</a:t>
            </a:r>
            <a:endParaRPr lang="fr-FR" sz="1900" dirty="0">
              <a:latin typeface="Calibri (Corps)"/>
            </a:endParaRP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89210" y="53794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>
                <a:solidFill>
                  <a:schemeClr val="bg1"/>
                </a:solidFill>
                <a:latin typeface="Eurostile-Roman" pitchFamily="2" charset="0"/>
              </a:rPr>
              <a:t>Présentation de l’entreprise</a:t>
            </a:r>
            <a:br>
              <a:rPr lang="fr-FR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>
                <a:solidFill>
                  <a:schemeClr val="bg1"/>
                </a:solidFill>
                <a:latin typeface="Eurostile-Roman" pitchFamily="2" charset="0"/>
              </a:rPr>
              <a:t>   Eskape</a:t>
            </a:r>
            <a:endParaRPr lang="fr-FR" dirty="0">
              <a:solidFill>
                <a:schemeClr val="bg1"/>
              </a:solidFill>
              <a:latin typeface="Eurostile-Roman" pitchFamily="2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5902" y="3509480"/>
            <a:ext cx="3043016" cy="1311505"/>
          </a:xfrm>
          <a:prstGeom prst="rect">
            <a:avLst/>
          </a:prstGeom>
        </p:spPr>
      </p:pic>
      <p:sp>
        <p:nvSpPr>
          <p:cNvPr id="14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6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4089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082" y="0"/>
            <a:ext cx="7886700" cy="1325563"/>
          </a:xfrm>
        </p:spPr>
        <p:txBody>
          <a:bodyPr>
            <a:normAutofit/>
          </a:bodyPr>
          <a:lstStyle/>
          <a:p>
            <a:r>
              <a:rPr lang="fr-FR" sz="4700" dirty="0">
                <a:solidFill>
                  <a:schemeClr val="bg1"/>
                </a:solidFill>
                <a:latin typeface="Eurostile-Roman" pitchFamily="2" charset="0"/>
              </a:rPr>
              <a:t>Sujet du stage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96748" y="2188547"/>
            <a:ext cx="7886700" cy="4351338"/>
          </a:xfrm>
        </p:spPr>
        <p:txBody>
          <a:bodyPr>
            <a:noAutofit/>
          </a:bodyPr>
          <a:lstStyle/>
          <a:p>
            <a:r>
              <a:rPr lang="fr-FR" sz="2200" dirty="0">
                <a:solidFill>
                  <a:srgbClr val="004492"/>
                </a:solidFill>
                <a:latin typeface="Calibri (Corps)"/>
              </a:rPr>
              <a:t>Vertical développé par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Eskape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 </a:t>
            </a:r>
            <a:r>
              <a:rPr lang="fr-FR" sz="2200" b="1" dirty="0" err="1">
                <a:solidFill>
                  <a:srgbClr val="004492"/>
                </a:solidFill>
                <a:latin typeface="Calibri (Corps)"/>
              </a:rPr>
              <a:t>NAViDMS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Module spécifique développé pour un client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Adapté aux besoins exprimés 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Installé et éprouvé </a:t>
            </a:r>
          </a:p>
          <a:p>
            <a:pPr lvl="1"/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pPr marL="914400" lvl="2" indent="0">
              <a:buNone/>
            </a:pPr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endParaRPr lang="fr-FR" sz="2200" dirty="0">
              <a:solidFill>
                <a:srgbClr val="004492"/>
              </a:solidFill>
              <a:latin typeface="Calibri (Corps)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73" y="4928839"/>
            <a:ext cx="4713244" cy="1178311"/>
          </a:xfrm>
          <a:prstGeom prst="rect">
            <a:avLst/>
          </a:prstGeom>
        </p:spPr>
      </p:pic>
      <p:sp>
        <p:nvSpPr>
          <p:cNvPr id="7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7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39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082" y="0"/>
            <a:ext cx="7886700" cy="1325563"/>
          </a:xfrm>
        </p:spPr>
        <p:txBody>
          <a:bodyPr>
            <a:normAutofit/>
          </a:bodyPr>
          <a:lstStyle/>
          <a:p>
            <a:r>
              <a:rPr lang="fr-FR" sz="4700" dirty="0">
                <a:solidFill>
                  <a:schemeClr val="bg1"/>
                </a:solidFill>
                <a:latin typeface="Eurostile-Roman" pitchFamily="2" charset="0"/>
              </a:rPr>
              <a:t>Sujet du stage</a:t>
            </a: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391" y="1108688"/>
            <a:ext cx="5884682" cy="5604027"/>
          </a:xfrm>
          <a:prstGeom prst="rect">
            <a:avLst/>
          </a:prstGeom>
        </p:spPr>
      </p:pic>
      <p:sp>
        <p:nvSpPr>
          <p:cNvPr id="5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8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722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5082" y="0"/>
            <a:ext cx="7886700" cy="1325563"/>
          </a:xfrm>
        </p:spPr>
        <p:txBody>
          <a:bodyPr>
            <a:normAutofit/>
          </a:bodyPr>
          <a:lstStyle/>
          <a:p>
            <a:r>
              <a:rPr lang="fr-FR" sz="4700" dirty="0">
                <a:solidFill>
                  <a:schemeClr val="bg1"/>
                </a:solidFill>
                <a:latin typeface="Eurostile-Roman" pitchFamily="2" charset="0"/>
              </a:rPr>
              <a:t>Sujet du stage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7300" y="1948661"/>
            <a:ext cx="7886700" cy="1948555"/>
          </a:xfrm>
        </p:spPr>
        <p:txBody>
          <a:bodyPr>
            <a:noAutofit/>
          </a:bodyPr>
          <a:lstStyle/>
          <a:p>
            <a:r>
              <a:rPr lang="fr-FR" sz="2200" dirty="0">
                <a:solidFill>
                  <a:srgbClr val="004492"/>
                </a:solidFill>
                <a:latin typeface="Calibri (Corps)"/>
              </a:rPr>
              <a:t>Vertical développé par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Eskape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 </a:t>
            </a:r>
            <a:r>
              <a:rPr lang="fr-FR" sz="2200" b="1" dirty="0" err="1">
                <a:solidFill>
                  <a:srgbClr val="004492"/>
                </a:solidFill>
                <a:latin typeface="Calibri (Corps)"/>
              </a:rPr>
              <a:t>NAViDMS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Module très spécifique mais …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… adapté pour toutes les entreprises de même profil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pPr marL="914400" lvl="2" indent="0">
              <a:buNone/>
            </a:pPr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endParaRPr lang="fr-FR" sz="2200" dirty="0">
              <a:solidFill>
                <a:srgbClr val="004492"/>
              </a:solidFill>
              <a:latin typeface="Calibri (Corps)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4473" y="4938369"/>
            <a:ext cx="4713244" cy="1178311"/>
          </a:xfrm>
          <a:prstGeom prst="rect">
            <a:avLst/>
          </a:prstGeom>
        </p:spPr>
      </p:pic>
      <p:sp>
        <p:nvSpPr>
          <p:cNvPr id="5" name="Espace réservé du contenu 2"/>
          <p:cNvSpPr txBox="1">
            <a:spLocks/>
          </p:cNvSpPr>
          <p:nvPr/>
        </p:nvSpPr>
        <p:spPr>
          <a:xfrm>
            <a:off x="959217" y="3931481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sz="2200" dirty="0">
              <a:solidFill>
                <a:srgbClr val="004492"/>
              </a:solidFill>
              <a:latin typeface="Eurostile-Roman" pitchFamily="2" charset="0"/>
            </a:endParaRPr>
          </a:p>
        </p:txBody>
      </p:sp>
      <p:sp>
        <p:nvSpPr>
          <p:cNvPr id="6" name="Espace réservé du contenu 2"/>
          <p:cNvSpPr txBox="1">
            <a:spLocks/>
          </p:cNvSpPr>
          <p:nvPr/>
        </p:nvSpPr>
        <p:spPr>
          <a:xfrm>
            <a:off x="2432069" y="4022680"/>
            <a:ext cx="7886700" cy="1948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800" b="1" dirty="0">
                <a:solidFill>
                  <a:srgbClr val="FF0000"/>
                </a:solidFill>
                <a:latin typeface="Calibri (Corps)"/>
                <a:sym typeface="Wingdings" panose="05000000000000000000" pitchFamily="2" charset="2"/>
              </a:rPr>
              <a:t>Certification du vertical </a:t>
            </a:r>
            <a:r>
              <a:rPr lang="fr-FR" sz="2800" b="1" dirty="0" err="1">
                <a:solidFill>
                  <a:srgbClr val="FF0000"/>
                </a:solidFill>
                <a:latin typeface="Calibri (Corps)"/>
                <a:sym typeface="Wingdings" panose="05000000000000000000" pitchFamily="2" charset="2"/>
              </a:rPr>
              <a:t>NAViDMS</a:t>
            </a:r>
            <a:endParaRPr lang="fr-FR" sz="2800" b="1" dirty="0">
              <a:solidFill>
                <a:srgbClr val="FF0000"/>
              </a:solidFill>
              <a:latin typeface="Calibri (Corps)"/>
            </a:endParaRPr>
          </a:p>
        </p:txBody>
      </p:sp>
      <p:sp>
        <p:nvSpPr>
          <p:cNvPr id="9" name="Flèche : droite 8"/>
          <p:cNvSpPr/>
          <p:nvPr/>
        </p:nvSpPr>
        <p:spPr>
          <a:xfrm>
            <a:off x="1504361" y="4114800"/>
            <a:ext cx="680224" cy="3201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9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222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653" y="136501"/>
            <a:ext cx="7886700" cy="1325563"/>
          </a:xfrm>
        </p:spPr>
        <p:txBody>
          <a:bodyPr>
            <a:norm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Eurostile-Roman" pitchFamily="2" charset="0"/>
              </a:rPr>
              <a:t>Certification </a:t>
            </a:r>
            <a:br>
              <a:rPr lang="fr-FR" sz="44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4400" dirty="0">
                <a:solidFill>
                  <a:schemeClr val="bg1"/>
                </a:solidFill>
                <a:latin typeface="Eurostile-Roman" pitchFamily="2" charset="0"/>
              </a:rPr>
              <a:t>CFMD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44109" y="2176637"/>
            <a:ext cx="8321471" cy="4351338"/>
          </a:xfrm>
        </p:spPr>
        <p:txBody>
          <a:bodyPr>
            <a:normAutofit/>
          </a:bodyPr>
          <a:lstStyle/>
          <a:p>
            <a:r>
              <a:rPr lang="fr-FR" sz="2200" dirty="0">
                <a:solidFill>
                  <a:srgbClr val="004492"/>
                </a:solidFill>
                <a:latin typeface="Calibri (Corps)"/>
              </a:rPr>
              <a:t>Programme </a:t>
            </a:r>
            <a:r>
              <a:rPr lang="fr-FR" sz="2200" b="1" dirty="0" err="1">
                <a:solidFill>
                  <a:srgbClr val="FF0000"/>
                </a:solidFill>
                <a:latin typeface="Calibri (Corps)"/>
              </a:rPr>
              <a:t>Certified</a:t>
            </a:r>
            <a:r>
              <a:rPr lang="fr-FR" sz="2200" b="1" dirty="0">
                <a:solidFill>
                  <a:srgbClr val="FF0000"/>
                </a:solidFill>
                <a:latin typeface="Calibri (Corps)"/>
              </a:rPr>
              <a:t> for Microsoft Dynamics 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(CFMD) : </a:t>
            </a:r>
          </a:p>
          <a:p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Officialise un module développé par un partenaire Microsoft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Certifie que le module est viable et efficace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Rend le vertical disponible à la vente par les autres entreprises partenaires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930" y="4939991"/>
            <a:ext cx="2595408" cy="1312582"/>
          </a:xfrm>
          <a:prstGeom prst="rect">
            <a:avLst/>
          </a:prstGeom>
        </p:spPr>
      </p:pic>
      <p:sp>
        <p:nvSpPr>
          <p:cNvPr id="10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10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855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24653" y="136501"/>
            <a:ext cx="7886700" cy="1325563"/>
          </a:xfrm>
        </p:spPr>
        <p:txBody>
          <a:bodyPr>
            <a:normAutofit/>
          </a:bodyPr>
          <a:lstStyle/>
          <a:p>
            <a:r>
              <a:rPr lang="fr-FR" sz="4400" dirty="0">
                <a:solidFill>
                  <a:schemeClr val="bg1"/>
                </a:solidFill>
                <a:latin typeface="Eurostile-Roman" pitchFamily="2" charset="0"/>
              </a:rPr>
              <a:t>Certification </a:t>
            </a:r>
            <a:br>
              <a:rPr lang="fr-FR" sz="44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4400" dirty="0">
                <a:solidFill>
                  <a:schemeClr val="bg1"/>
                </a:solidFill>
                <a:latin typeface="Eurostile-Roman" pitchFamily="2" charset="0"/>
              </a:rPr>
              <a:t>CFMD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922889" y="2168862"/>
            <a:ext cx="8321471" cy="4351338"/>
          </a:xfrm>
        </p:spPr>
        <p:txBody>
          <a:bodyPr>
            <a:normAutofit/>
          </a:bodyPr>
          <a:lstStyle/>
          <a:p>
            <a:r>
              <a:rPr lang="fr-FR" sz="2200" dirty="0">
                <a:solidFill>
                  <a:srgbClr val="004492"/>
                </a:solidFill>
                <a:latin typeface="Calibri (Corps)"/>
              </a:rPr>
              <a:t>Programme </a:t>
            </a:r>
            <a:r>
              <a:rPr lang="fr-FR" sz="2200" b="1" dirty="0" err="1">
                <a:solidFill>
                  <a:srgbClr val="FF0000"/>
                </a:solidFill>
                <a:latin typeface="Calibri (Corps)"/>
              </a:rPr>
              <a:t>Certified</a:t>
            </a:r>
            <a:r>
              <a:rPr lang="fr-FR" sz="2200" b="1" dirty="0">
                <a:solidFill>
                  <a:srgbClr val="FF0000"/>
                </a:solidFill>
                <a:latin typeface="Calibri (Corps)"/>
              </a:rPr>
              <a:t> for Microsoft Dynamics 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(CFMD) : </a:t>
            </a:r>
          </a:p>
          <a:p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Série de test réalisée par une entreprise externe à Microsoft</a:t>
            </a:r>
          </a:p>
          <a:p>
            <a:pPr lvl="1"/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Doit répondre à de nombreux critères </a:t>
            </a:r>
            <a:r>
              <a:rPr lang="fr-FR" sz="19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 </a:t>
            </a:r>
            <a:r>
              <a:rPr lang="fr-FR" sz="1900" b="1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CFMD Guidelines</a:t>
            </a:r>
          </a:p>
          <a:p>
            <a:pPr lvl="1"/>
            <a:endParaRPr lang="fr-FR" sz="1900" b="1" dirty="0">
              <a:solidFill>
                <a:srgbClr val="004492"/>
              </a:solidFill>
              <a:latin typeface="Calibri (Corps)"/>
              <a:sym typeface="Wingdings" panose="05000000000000000000" pitchFamily="2" charset="2"/>
            </a:endParaRPr>
          </a:p>
          <a:p>
            <a:pPr lvl="1"/>
            <a:r>
              <a:rPr lang="fr-FR" sz="1900" dirty="0">
                <a:solidFill>
                  <a:srgbClr val="004492"/>
                </a:solidFill>
                <a:latin typeface="Calibri (Corps)"/>
              </a:rPr>
              <a:t>L’entreprise doit fournir 10 références clients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09930" y="4939991"/>
            <a:ext cx="2595408" cy="1312582"/>
          </a:xfrm>
          <a:prstGeom prst="rect">
            <a:avLst/>
          </a:prstGeom>
        </p:spPr>
      </p:pic>
      <p:sp>
        <p:nvSpPr>
          <p:cNvPr id="7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11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1709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330037" y="2102371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Auto-formation : CFMD Guidelines</a:t>
            </a:r>
          </a:p>
        </p:txBody>
      </p:sp>
      <p:sp>
        <p:nvSpPr>
          <p:cNvPr id="10" name="Espace réservé du contenu 30"/>
          <p:cNvSpPr txBox="1">
            <a:spLocks/>
          </p:cNvSpPr>
          <p:nvPr/>
        </p:nvSpPr>
        <p:spPr>
          <a:xfrm>
            <a:off x="3614652" y="2935357"/>
            <a:ext cx="7886700" cy="3505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Document technique en anglais</a:t>
            </a:r>
          </a:p>
          <a:p>
            <a:pPr marL="0" indent="0">
              <a:lnSpc>
                <a:spcPct val="150000"/>
              </a:lnSpc>
              <a:buNone/>
            </a:pPr>
            <a:endParaRPr lang="fr-FR" sz="2200" dirty="0">
              <a:solidFill>
                <a:srgbClr val="004492"/>
              </a:solidFill>
              <a:latin typeface="Calibri (Corps)"/>
            </a:endParaRPr>
          </a:p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Décrit point par point la certification</a:t>
            </a:r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marL="342900" lvl="1" indent="0">
              <a:lnSpc>
                <a:spcPct val="150000"/>
              </a:lnSpc>
              <a:buNone/>
            </a:pPr>
            <a:endParaRPr lang="fr-FR" sz="1900" dirty="0">
              <a:solidFill>
                <a:srgbClr val="004492"/>
              </a:solidFill>
              <a:latin typeface="Calibri (Corps)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216" y="3060470"/>
            <a:ext cx="2249193" cy="2928773"/>
          </a:xfrm>
          <a:prstGeom prst="rect">
            <a:avLst/>
          </a:prstGeom>
        </p:spPr>
      </p:pic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12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0797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7" name="Espace réservé du contenu 30"/>
          <p:cNvSpPr>
            <a:spLocks noGrp="1"/>
          </p:cNvSpPr>
          <p:nvPr>
            <p:ph idx="1"/>
          </p:nvPr>
        </p:nvSpPr>
        <p:spPr>
          <a:xfrm>
            <a:off x="904010" y="2136055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Travail principal : renumérotation des objets Dynamics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Nav</a:t>
            </a:r>
            <a:endParaRPr lang="fr-FR" sz="22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084118" y="2926858"/>
            <a:ext cx="8059882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Indispensable pour la certification</a:t>
            </a:r>
          </a:p>
          <a:p>
            <a:pPr marL="342900" lvl="1" indent="0">
              <a:lnSpc>
                <a:spcPct val="200000"/>
              </a:lnSpc>
              <a:buNone/>
            </a:pPr>
            <a:endParaRPr lang="fr-FR" sz="15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 Placer les identifiants des objets </a:t>
            </a:r>
            <a:r>
              <a:rPr lang="fr-FR" sz="2000" dirty="0" err="1">
                <a:solidFill>
                  <a:srgbClr val="004492"/>
                </a:solidFill>
                <a:latin typeface="Calibri (Corps)"/>
              </a:rPr>
              <a:t>Nav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dans la plage certifiée</a:t>
            </a:r>
          </a:p>
          <a:p>
            <a:pPr lvl="1">
              <a:lnSpc>
                <a:spcPct val="20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13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82032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7" name="Espace réservé du contenu 30"/>
          <p:cNvSpPr>
            <a:spLocks noGrp="1"/>
          </p:cNvSpPr>
          <p:nvPr>
            <p:ph idx="1"/>
          </p:nvPr>
        </p:nvSpPr>
        <p:spPr>
          <a:xfrm>
            <a:off x="904010" y="1801519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Fonctionnement des objets Dynamics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Nav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084118" y="2328500"/>
            <a:ext cx="8059882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Multitude d’objets de types différents :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rgbClr val="004492"/>
                </a:solidFill>
                <a:latin typeface="Calibri (Corps)"/>
              </a:rPr>
              <a:t>Tables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rgbClr val="004492"/>
                </a:solidFill>
                <a:latin typeface="Calibri (Corps)"/>
              </a:rPr>
              <a:t>Pages</a:t>
            </a: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00" dirty="0" err="1">
                <a:solidFill>
                  <a:srgbClr val="004492"/>
                </a:solidFill>
                <a:latin typeface="Calibri (Corps)"/>
              </a:rPr>
              <a:t>Codeunit</a:t>
            </a:r>
            <a:endParaRPr lang="fr-FR" sz="1700" dirty="0">
              <a:solidFill>
                <a:srgbClr val="004492"/>
              </a:solidFill>
              <a:latin typeface="Calibri (Corps)"/>
            </a:endParaRPr>
          </a:p>
          <a:p>
            <a:pPr lvl="2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1700" dirty="0">
                <a:solidFill>
                  <a:srgbClr val="004492"/>
                </a:solidFill>
                <a:latin typeface="Calibri (Corps)"/>
              </a:rPr>
              <a:t>…</a:t>
            </a:r>
          </a:p>
          <a:p>
            <a:pPr lvl="1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Objets stockés dans une base de données liée</a:t>
            </a:r>
          </a:p>
          <a:p>
            <a:pPr lvl="1">
              <a:lnSpc>
                <a:spcPct val="20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14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7176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2264288" y="4220093"/>
            <a:ext cx="8059882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>
              <a:lnSpc>
                <a:spcPct val="200000"/>
              </a:lnSpc>
              <a:buNone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Exemple d’objets Dynamics </a:t>
            </a:r>
            <a:r>
              <a:rPr lang="fr-FR" sz="2000" dirty="0" err="1">
                <a:solidFill>
                  <a:srgbClr val="004492"/>
                </a:solidFill>
                <a:latin typeface="Calibri (Corps)"/>
              </a:rPr>
              <a:t>Nav</a:t>
            </a: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15</a:t>
            </a:fld>
            <a:endParaRPr lang="fr-FR" sz="1800" dirty="0">
              <a:latin typeface="Eurostile-Roman" pitchFamily="2" charset="0"/>
            </a:endParaRP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02" y="2664262"/>
            <a:ext cx="8898083" cy="1443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91177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327586" y="2655832"/>
            <a:ext cx="8059882" cy="38264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>
              <a:lnSpc>
                <a:spcPct val="250000"/>
              </a:lnSpc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Identifiant entre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1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et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49 999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 : </a:t>
            </a:r>
            <a:r>
              <a:rPr lang="fr-FR" sz="2000" b="1" dirty="0">
                <a:solidFill>
                  <a:srgbClr val="FF0000"/>
                </a:solidFill>
                <a:latin typeface="Calibri (Corps)"/>
              </a:rPr>
              <a:t>objets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Calibri (Corps)"/>
              </a:rPr>
              <a:t>standards</a:t>
            </a:r>
          </a:p>
          <a:p>
            <a:pPr lvl="0">
              <a:lnSpc>
                <a:spcPct val="250000"/>
              </a:lnSpc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Identifiant entre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50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000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et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99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999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 : </a:t>
            </a:r>
            <a:r>
              <a:rPr lang="fr-FR" sz="2000" b="1" dirty="0">
                <a:solidFill>
                  <a:srgbClr val="FF0000"/>
                </a:solidFill>
                <a:latin typeface="Calibri (Corps)"/>
              </a:rPr>
              <a:t>objets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Calibri (Corps)"/>
              </a:rPr>
              <a:t>spécifiques</a:t>
            </a:r>
          </a:p>
          <a:p>
            <a:pPr lvl="0">
              <a:lnSpc>
                <a:spcPct val="250000"/>
              </a:lnSpc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Identifiant entre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100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000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et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999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 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999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 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999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 : </a:t>
            </a:r>
            <a:r>
              <a:rPr lang="fr-FR" sz="2000" b="1" dirty="0">
                <a:solidFill>
                  <a:srgbClr val="FF0000"/>
                </a:solidFill>
                <a:latin typeface="Calibri (Corps)"/>
              </a:rPr>
              <a:t>objets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2000" b="1" dirty="0">
                <a:solidFill>
                  <a:srgbClr val="FF0000"/>
                </a:solidFill>
                <a:latin typeface="Calibri (Corps)"/>
              </a:rPr>
              <a:t>certifiés</a:t>
            </a:r>
            <a:endParaRPr lang="fr-FR" sz="2000" b="1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16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7" name="Espace réservé du contenu 30"/>
          <p:cNvSpPr>
            <a:spLocks noGrp="1"/>
          </p:cNvSpPr>
          <p:nvPr>
            <p:ph idx="1"/>
          </p:nvPr>
        </p:nvSpPr>
        <p:spPr>
          <a:xfrm>
            <a:off x="937463" y="1953762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Fonctionnement des objets Dynamics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Nav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29403272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7" name="Espace réservé du contenu 30"/>
          <p:cNvSpPr>
            <a:spLocks noGrp="1"/>
          </p:cNvSpPr>
          <p:nvPr>
            <p:ph idx="1"/>
          </p:nvPr>
        </p:nvSpPr>
        <p:spPr>
          <a:xfrm>
            <a:off x="904010" y="1855714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Fonctionnement des objets Dynamics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Nav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084118" y="2473465"/>
            <a:ext cx="8059882" cy="1998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Objets très liés entre eux (par l’identifiant)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Renumérotation impossible nativement sans perte de données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17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6" name="Espace réservé du contenu 30"/>
          <p:cNvSpPr txBox="1">
            <a:spLocks/>
          </p:cNvSpPr>
          <p:nvPr/>
        </p:nvSpPr>
        <p:spPr>
          <a:xfrm>
            <a:off x="730828" y="4360126"/>
            <a:ext cx="8059882" cy="1998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>
              <a:lnSpc>
                <a:spcPct val="250000"/>
              </a:lnSpc>
              <a:buNone/>
            </a:pPr>
            <a:r>
              <a:rPr lang="fr-FR" sz="2000" b="1" dirty="0">
                <a:solidFill>
                  <a:srgbClr val="FF0000"/>
                </a:solidFill>
                <a:latin typeface="Calibri (Corps)"/>
              </a:rPr>
              <a:t>Problématique :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migrer objets et champs spécifiques dans la plage certifiée.</a:t>
            </a:r>
          </a:p>
        </p:txBody>
      </p:sp>
    </p:spTree>
    <p:extLst>
      <p:ext uri="{BB962C8B-B14F-4D97-AF65-F5344CB8AC3E}">
        <p14:creationId xmlns:p14="http://schemas.microsoft.com/office/powerpoint/2010/main" val="1362145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7" name="Espace réservé du contenu 30"/>
          <p:cNvSpPr>
            <a:spLocks noGrp="1"/>
          </p:cNvSpPr>
          <p:nvPr>
            <p:ph idx="1"/>
          </p:nvPr>
        </p:nvSpPr>
        <p:spPr>
          <a:xfrm>
            <a:off x="904010" y="2238847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Outils de renumérotations :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084118" y="2745086"/>
            <a:ext cx="8059882" cy="1998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Outils externes trop complexes / couteux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18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904010" y="4171580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Choix technique retenu :</a:t>
            </a:r>
          </a:p>
          <a:p>
            <a:pPr>
              <a:lnSpc>
                <a:spcPct val="150000"/>
              </a:lnSpc>
            </a:pPr>
            <a:endParaRPr lang="fr-FR" sz="22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0" name="Espace réservé du contenu 30"/>
          <p:cNvSpPr txBox="1">
            <a:spLocks/>
          </p:cNvSpPr>
          <p:nvPr/>
        </p:nvSpPr>
        <p:spPr>
          <a:xfrm>
            <a:off x="1084118" y="4622943"/>
            <a:ext cx="8059882" cy="19981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Développement d’un outil en C#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10488484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4" name="Espace réservé du contenu 30"/>
          <p:cNvSpPr>
            <a:spLocks noGrp="1"/>
          </p:cNvSpPr>
          <p:nvPr>
            <p:ph idx="1"/>
          </p:nvPr>
        </p:nvSpPr>
        <p:spPr>
          <a:xfrm>
            <a:off x="1330037" y="2102371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Auto-formation : utilisation de nouvelles technologies :</a:t>
            </a:r>
          </a:p>
        </p:txBody>
      </p:sp>
      <p:pic>
        <p:nvPicPr>
          <p:cNvPr id="2050" name="Picture 2" descr="http://www.guillaumebrout.fr/wp-content/uploads/2016/01/2p4i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3103" y="3156333"/>
            <a:ext cx="1579707" cy="157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Espace réservé du contenu 30"/>
          <p:cNvSpPr txBox="1">
            <a:spLocks/>
          </p:cNvSpPr>
          <p:nvPr/>
        </p:nvSpPr>
        <p:spPr>
          <a:xfrm>
            <a:off x="3020292" y="2969647"/>
            <a:ext cx="7886700" cy="35057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Langage de programmation orienté objet</a:t>
            </a:r>
          </a:p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Langage propriétaire : Microsoft</a:t>
            </a:r>
          </a:p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Similitudes :</a:t>
            </a:r>
          </a:p>
          <a:p>
            <a:pPr lvl="1">
              <a:lnSpc>
                <a:spcPct val="150000"/>
              </a:lnSpc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C++</a:t>
            </a:r>
          </a:p>
          <a:p>
            <a:pPr lvl="1">
              <a:lnSpc>
                <a:spcPct val="150000"/>
              </a:lnSpc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JAVA</a:t>
            </a:r>
          </a:p>
          <a:p>
            <a:pPr marL="342900" lvl="1" indent="0">
              <a:lnSpc>
                <a:spcPct val="150000"/>
              </a:lnSpc>
              <a:buNone/>
            </a:pPr>
            <a:endParaRPr lang="fr-FR" sz="19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7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19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58711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7" name="Espace réservé du contenu 30"/>
          <p:cNvSpPr>
            <a:spLocks noGrp="1"/>
          </p:cNvSpPr>
          <p:nvPr>
            <p:ph idx="1"/>
          </p:nvPr>
        </p:nvSpPr>
        <p:spPr>
          <a:xfrm>
            <a:off x="904010" y="2022983"/>
            <a:ext cx="7886700" cy="10539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Solution de renumérotation :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20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6" name="Cylindre 5"/>
          <p:cNvSpPr/>
          <p:nvPr/>
        </p:nvSpPr>
        <p:spPr>
          <a:xfrm>
            <a:off x="1109421" y="3633276"/>
            <a:ext cx="815684" cy="1056140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Objets</a:t>
            </a:r>
          </a:p>
          <a:p>
            <a:pPr algn="ctr"/>
            <a:r>
              <a:rPr lang="fr-FR" dirty="0"/>
              <a:t>NAV</a:t>
            </a:r>
          </a:p>
        </p:txBody>
      </p:sp>
      <p:sp>
        <p:nvSpPr>
          <p:cNvPr id="9" name="Rectangle 8"/>
          <p:cNvSpPr/>
          <p:nvPr/>
        </p:nvSpPr>
        <p:spPr>
          <a:xfrm>
            <a:off x="3649690" y="3818442"/>
            <a:ext cx="1831276" cy="685808"/>
          </a:xfrm>
          <a:prstGeom prst="rect">
            <a:avLst/>
          </a:prstGeom>
          <a:solidFill>
            <a:schemeClr val="bg1"/>
          </a:solidFill>
          <a:ln w="28575">
            <a:solidFill>
              <a:srgbClr val="61953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rgbClr val="61953D"/>
                </a:solidFill>
              </a:rPr>
              <a:t>Renumérotation</a:t>
            </a:r>
          </a:p>
        </p:txBody>
      </p:sp>
      <p:sp>
        <p:nvSpPr>
          <p:cNvPr id="10" name="ZoneTexte 9"/>
          <p:cNvSpPr txBox="1"/>
          <p:nvPr/>
        </p:nvSpPr>
        <p:spPr>
          <a:xfrm>
            <a:off x="1971739" y="4161346"/>
            <a:ext cx="1784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FF0000"/>
                </a:solidFill>
              </a:rPr>
              <a:t>Export (.</a:t>
            </a:r>
            <a:r>
              <a:rPr lang="fr-FR" sz="1600" dirty="0" err="1">
                <a:solidFill>
                  <a:srgbClr val="FF0000"/>
                </a:solidFill>
              </a:rPr>
              <a:t>txt</a:t>
            </a:r>
            <a:r>
              <a:rPr lang="fr-FR" sz="1600" dirty="0">
                <a:solidFill>
                  <a:srgbClr val="FF0000"/>
                </a:solidFill>
              </a:rPr>
              <a:t>)</a:t>
            </a:r>
          </a:p>
          <a:p>
            <a:pPr algn="ctr"/>
            <a:endParaRPr lang="fr-FR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2" name="Connecteur droit avec flèche 11"/>
          <p:cNvCxnSpPr>
            <a:stCxn id="6" idx="4"/>
            <a:endCxn id="9" idx="1"/>
          </p:cNvCxnSpPr>
          <p:nvPr/>
        </p:nvCxnSpPr>
        <p:spPr>
          <a:xfrm>
            <a:off x="1925105" y="4161346"/>
            <a:ext cx="172458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3696323" y="4522624"/>
            <a:ext cx="17846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/>
              <a:t>Outil de Migration</a:t>
            </a:r>
          </a:p>
          <a:p>
            <a:pPr algn="ctr"/>
            <a:endParaRPr lang="fr-FR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14" name="Connecteur droit avec flèche 13"/>
          <p:cNvCxnSpPr>
            <a:endCxn id="16" idx="2"/>
          </p:cNvCxnSpPr>
          <p:nvPr/>
        </p:nvCxnSpPr>
        <p:spPr>
          <a:xfrm>
            <a:off x="5480965" y="4161346"/>
            <a:ext cx="1603935" cy="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ZoneTexte 14"/>
          <p:cNvSpPr txBox="1"/>
          <p:nvPr/>
        </p:nvSpPr>
        <p:spPr>
          <a:xfrm>
            <a:off x="5360315" y="4195792"/>
            <a:ext cx="17846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dirty="0">
                <a:solidFill>
                  <a:srgbClr val="FF0000"/>
                </a:solidFill>
              </a:rPr>
              <a:t>Import (.</a:t>
            </a:r>
            <a:r>
              <a:rPr lang="fr-FR" sz="1600" dirty="0" err="1">
                <a:solidFill>
                  <a:srgbClr val="FF0000"/>
                </a:solidFill>
              </a:rPr>
              <a:t>txt</a:t>
            </a:r>
            <a:r>
              <a:rPr lang="fr-FR" sz="1600" dirty="0">
                <a:solidFill>
                  <a:srgbClr val="FF0000"/>
                </a:solidFill>
              </a:rPr>
              <a:t>)</a:t>
            </a:r>
          </a:p>
          <a:p>
            <a:pPr algn="ctr"/>
            <a:endParaRPr lang="fr-FR" sz="1600" dirty="0">
              <a:solidFill>
                <a:srgbClr val="FF0000"/>
              </a:solidFill>
            </a:endParaRPr>
          </a:p>
          <a:p>
            <a:pPr algn="ctr"/>
            <a:endParaRPr lang="fr-FR" sz="16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Cylindre 15"/>
          <p:cNvSpPr/>
          <p:nvPr/>
        </p:nvSpPr>
        <p:spPr>
          <a:xfrm>
            <a:off x="7084900" y="3633276"/>
            <a:ext cx="815684" cy="1056140"/>
          </a:xfrm>
          <a:prstGeom prst="can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Objets</a:t>
            </a:r>
          </a:p>
          <a:p>
            <a:pPr algn="ctr"/>
            <a:r>
              <a:rPr lang="fr-FR" dirty="0"/>
              <a:t>NAV</a:t>
            </a:r>
          </a:p>
        </p:txBody>
      </p:sp>
    </p:spTree>
    <p:extLst>
      <p:ext uri="{BB962C8B-B14F-4D97-AF65-F5344CB8AC3E}">
        <p14:creationId xmlns:p14="http://schemas.microsoft.com/office/powerpoint/2010/main" val="3180818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21</a:t>
            </a:fld>
            <a:endParaRPr lang="fr-FR" sz="1800" dirty="0">
              <a:latin typeface="Eurostile-Roman" pitchFamily="2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7322" y="1471960"/>
            <a:ext cx="5001725" cy="5071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9760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22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17" name="Espace réservé du contenu 30"/>
          <p:cNvSpPr txBox="1">
            <a:spLocks/>
          </p:cNvSpPr>
          <p:nvPr/>
        </p:nvSpPr>
        <p:spPr>
          <a:xfrm>
            <a:off x="925170" y="1925950"/>
            <a:ext cx="7886700" cy="75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Problématique principale :</a:t>
            </a:r>
          </a:p>
        </p:txBody>
      </p:sp>
      <p:sp>
        <p:nvSpPr>
          <p:cNvPr id="18" name="Espace réservé du contenu 30"/>
          <p:cNvSpPr txBox="1">
            <a:spLocks/>
          </p:cNvSpPr>
          <p:nvPr/>
        </p:nvSpPr>
        <p:spPr>
          <a:xfrm>
            <a:off x="925170" y="2302785"/>
            <a:ext cx="8059882" cy="1083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FF0000"/>
                </a:solidFill>
                <a:latin typeface="Calibri (Corps)"/>
              </a:rPr>
              <a:t>Compilation des tables modifiées </a:t>
            </a:r>
            <a:r>
              <a:rPr lang="fr-FR" sz="2000" dirty="0">
                <a:solidFill>
                  <a:srgbClr val="FF0000"/>
                </a:solidFill>
                <a:latin typeface="Calibri (Corps)"/>
                <a:sym typeface="Wingdings" panose="05000000000000000000" pitchFamily="2" charset="2"/>
              </a:rPr>
              <a:t> perte des données stockées</a:t>
            </a:r>
            <a:endParaRPr lang="fr-FR" sz="2000" dirty="0">
              <a:solidFill>
                <a:srgbClr val="FF0000"/>
              </a:solidFill>
              <a:latin typeface="Calibri (Corps)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marL="342900" lvl="1" indent="0">
              <a:lnSpc>
                <a:spcPct val="250000"/>
              </a:lnSpc>
              <a:buNone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9" name="Espace réservé du contenu 30"/>
          <p:cNvSpPr txBox="1">
            <a:spLocks/>
          </p:cNvSpPr>
          <p:nvPr/>
        </p:nvSpPr>
        <p:spPr>
          <a:xfrm>
            <a:off x="925170" y="3284771"/>
            <a:ext cx="7886700" cy="7536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Solution mise en place :</a:t>
            </a:r>
          </a:p>
          <a:p>
            <a:pPr>
              <a:lnSpc>
                <a:spcPct val="150000"/>
              </a:lnSpc>
            </a:pPr>
            <a:endParaRPr lang="fr-FR" sz="22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20" name="Espace réservé du contenu 30"/>
          <p:cNvSpPr txBox="1">
            <a:spLocks/>
          </p:cNvSpPr>
          <p:nvPr/>
        </p:nvSpPr>
        <p:spPr>
          <a:xfrm>
            <a:off x="925170" y="3763107"/>
            <a:ext cx="8059882" cy="2719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Scénario de migration sans perte de données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Anciennes tables </a:t>
            </a:r>
            <a:r>
              <a:rPr lang="fr-FR" sz="20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 tables temporaires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Traitement de la migration en interne dans </a:t>
            </a:r>
            <a:r>
              <a:rPr lang="fr-FR" sz="2000" dirty="0" err="1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Nav</a:t>
            </a:r>
            <a:endParaRPr lang="fr-FR" sz="2000" dirty="0">
              <a:solidFill>
                <a:srgbClr val="004492"/>
              </a:solidFill>
              <a:latin typeface="Calibri (Corps)"/>
              <a:sym typeface="Wingdings" panose="05000000000000000000" pitchFamily="2" charset="2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  <a:sym typeface="Wingdings" panose="05000000000000000000" pitchFamily="2" charset="2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FF0000"/>
              </a:solidFill>
              <a:latin typeface="Calibri (Corps)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marL="342900" lvl="1" indent="0">
              <a:lnSpc>
                <a:spcPct val="250000"/>
              </a:lnSpc>
              <a:buNone/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38783208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23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5" name="Espace réservé du contenu 30"/>
          <p:cNvSpPr>
            <a:spLocks noGrp="1"/>
          </p:cNvSpPr>
          <p:nvPr>
            <p:ph idx="1"/>
          </p:nvPr>
        </p:nvSpPr>
        <p:spPr>
          <a:xfrm>
            <a:off x="948615" y="2190251"/>
            <a:ext cx="7886700" cy="7536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Développement d’un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Codeunit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de migration des données :</a:t>
            </a:r>
          </a:p>
        </p:txBody>
      </p:sp>
      <p:sp>
        <p:nvSpPr>
          <p:cNvPr id="7" name="Espace réservé du contenu 30"/>
          <p:cNvSpPr txBox="1">
            <a:spLocks/>
          </p:cNvSpPr>
          <p:nvPr/>
        </p:nvSpPr>
        <p:spPr>
          <a:xfrm>
            <a:off x="1084118" y="2796851"/>
            <a:ext cx="8059882" cy="33474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Langage C/AL : très orienté données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Migration par transfert de données entre tables 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Boucle dynamique sur toutes les tables à migrer </a:t>
            </a:r>
            <a:endParaRPr lang="fr-FR" sz="20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</p:spTree>
    <p:extLst>
      <p:ext uri="{BB962C8B-B14F-4D97-AF65-F5344CB8AC3E}">
        <p14:creationId xmlns:p14="http://schemas.microsoft.com/office/powerpoint/2010/main" val="36958140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24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5" name="Espace réservé du contenu 30"/>
          <p:cNvSpPr>
            <a:spLocks noGrp="1"/>
          </p:cNvSpPr>
          <p:nvPr>
            <p:ph idx="1"/>
          </p:nvPr>
        </p:nvSpPr>
        <p:spPr>
          <a:xfrm>
            <a:off x="948615" y="2089891"/>
            <a:ext cx="7886700" cy="75367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Enrichissement du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Codeunit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 migration spécifique</a:t>
            </a:r>
          </a:p>
        </p:txBody>
      </p:sp>
      <p:sp>
        <p:nvSpPr>
          <p:cNvPr id="7" name="Espace réservé du contenu 30"/>
          <p:cNvSpPr txBox="1">
            <a:spLocks/>
          </p:cNvSpPr>
          <p:nvPr/>
        </p:nvSpPr>
        <p:spPr>
          <a:xfrm>
            <a:off x="1084118" y="2696492"/>
            <a:ext cx="8059882" cy="1987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Migration précédente : migration générale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Ajout de méthodes de migration spécifique </a:t>
            </a:r>
            <a:r>
              <a:rPr lang="fr-FR" sz="2000" dirty="0" err="1">
                <a:solidFill>
                  <a:srgbClr val="004492"/>
                </a:solidFill>
                <a:latin typeface="Calibri (Corps)"/>
              </a:rPr>
              <a:t>NAViDMS</a:t>
            </a: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6" name="Espace réservé du contenu 30"/>
          <p:cNvSpPr txBox="1">
            <a:spLocks/>
          </p:cNvSpPr>
          <p:nvPr/>
        </p:nvSpPr>
        <p:spPr>
          <a:xfrm>
            <a:off x="1084118" y="4436238"/>
            <a:ext cx="8059882" cy="1987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Modification d’identifiants stockés avec nouveaux ID</a:t>
            </a:r>
          </a:p>
        </p:txBody>
      </p:sp>
    </p:spTree>
    <p:extLst>
      <p:ext uri="{BB962C8B-B14F-4D97-AF65-F5344CB8AC3E}">
        <p14:creationId xmlns:p14="http://schemas.microsoft.com/office/powerpoint/2010/main" val="25896734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25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7" name="Espace réservé du contenu 30"/>
          <p:cNvSpPr txBox="1">
            <a:spLocks/>
          </p:cNvSpPr>
          <p:nvPr/>
        </p:nvSpPr>
        <p:spPr>
          <a:xfrm>
            <a:off x="1084118" y="3003857"/>
            <a:ext cx="8059882" cy="1987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Vertical </a:t>
            </a:r>
            <a:r>
              <a:rPr lang="fr-FR" sz="2000" dirty="0" err="1">
                <a:solidFill>
                  <a:srgbClr val="004492"/>
                </a:solidFill>
                <a:latin typeface="Calibri (Corps)"/>
              </a:rPr>
              <a:t>NAViDMS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: conçu comme un module spécifique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Certains identifiants écrits en dur dans les codes C/AL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2723009" y="1422181"/>
            <a:ext cx="4569212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3000" b="1" dirty="0">
                <a:solidFill>
                  <a:srgbClr val="004492"/>
                </a:solidFill>
                <a:latin typeface="Calibri (Corps)"/>
              </a:rPr>
              <a:t>Travaux complémentaires</a:t>
            </a:r>
          </a:p>
        </p:txBody>
      </p: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1961413" y="5200562"/>
            <a:ext cx="7886700" cy="1948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Impossibles à identifier / renuméroter automatiquement</a:t>
            </a:r>
            <a:endParaRPr lang="fr-FR" sz="2000" b="1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3" name="Flèche : droite 12"/>
          <p:cNvSpPr/>
          <p:nvPr/>
        </p:nvSpPr>
        <p:spPr>
          <a:xfrm>
            <a:off x="1064265" y="5197735"/>
            <a:ext cx="680224" cy="320125"/>
          </a:xfrm>
          <a:prstGeom prst="rightArrow">
            <a:avLst/>
          </a:prstGeom>
          <a:solidFill>
            <a:srgbClr val="004492"/>
          </a:solidFill>
          <a:ln>
            <a:solidFill>
              <a:srgbClr val="00449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70C0"/>
              </a:solidFill>
            </a:endParaRP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064265" y="2476876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Outil d’analyse d’objets Dynamics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Nav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24735773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26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7" name="Espace réservé du contenu 30"/>
          <p:cNvSpPr txBox="1">
            <a:spLocks/>
          </p:cNvSpPr>
          <p:nvPr/>
        </p:nvSpPr>
        <p:spPr>
          <a:xfrm>
            <a:off x="1084118" y="2852755"/>
            <a:ext cx="8059882" cy="2789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Développer un outil d’analyse en C#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Faire remonter les lignes potentiellement problématiques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Intégrer l’outil d’analyse dans un outil plus global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917188" y="2302587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Solution retenue : </a:t>
            </a:r>
          </a:p>
        </p:txBody>
      </p:sp>
    </p:spTree>
    <p:extLst>
      <p:ext uri="{BB962C8B-B14F-4D97-AF65-F5344CB8AC3E}">
        <p14:creationId xmlns:p14="http://schemas.microsoft.com/office/powerpoint/2010/main" val="3465901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27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7" name="Espace réservé du contenu 30"/>
          <p:cNvSpPr txBox="1">
            <a:spLocks/>
          </p:cNvSpPr>
          <p:nvPr/>
        </p:nvSpPr>
        <p:spPr>
          <a:xfrm>
            <a:off x="1084118" y="2852755"/>
            <a:ext cx="8059882" cy="27897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Préparation à l’ajout de nouvelles fonctionnalités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Mise en place d’une interface simple et efficace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Généraliste et configurable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917188" y="2302587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Transformation en programme « boîte à outils » pour </a:t>
            </a:r>
            <a:r>
              <a:rPr lang="fr-FR" sz="2200" dirty="0" err="1">
                <a:solidFill>
                  <a:srgbClr val="004492"/>
                </a:solidFill>
                <a:latin typeface="Calibri (Corps)"/>
              </a:rPr>
              <a:t>Nav</a:t>
            </a:r>
            <a:r>
              <a:rPr lang="fr-FR" sz="2200" dirty="0">
                <a:solidFill>
                  <a:srgbClr val="004492"/>
                </a:solidFill>
                <a:latin typeface="Calibri (Corps)"/>
              </a:rPr>
              <a:t> :</a:t>
            </a:r>
          </a:p>
        </p:txBody>
      </p:sp>
    </p:spTree>
    <p:extLst>
      <p:ext uri="{BB962C8B-B14F-4D97-AF65-F5344CB8AC3E}">
        <p14:creationId xmlns:p14="http://schemas.microsoft.com/office/powerpoint/2010/main" val="400845963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28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2723009" y="1422914"/>
            <a:ext cx="4569212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3000" b="1" dirty="0">
                <a:solidFill>
                  <a:srgbClr val="004492"/>
                </a:solidFill>
                <a:latin typeface="Calibri (Corps)"/>
              </a:rPr>
              <a:t>Travaux complémentaires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064265" y="2476876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Outil d’ajout de Version List</a:t>
            </a:r>
          </a:p>
        </p:txBody>
      </p:sp>
      <p:sp>
        <p:nvSpPr>
          <p:cNvPr id="14" name="Espace réservé du contenu 30"/>
          <p:cNvSpPr txBox="1">
            <a:spLocks/>
          </p:cNvSpPr>
          <p:nvPr/>
        </p:nvSpPr>
        <p:spPr>
          <a:xfrm>
            <a:off x="1084118" y="2987697"/>
            <a:ext cx="8059882" cy="1840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Version List : regroupe objets d’un même vertical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Version List : comporte un numéro de version du vertical</a:t>
            </a: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7" name="Espace réservé du contenu 2"/>
          <p:cNvSpPr txBox="1">
            <a:spLocks/>
          </p:cNvSpPr>
          <p:nvPr/>
        </p:nvSpPr>
        <p:spPr>
          <a:xfrm>
            <a:off x="1972902" y="5062802"/>
            <a:ext cx="7886700" cy="1948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Indispensable pour passer le test de certification</a:t>
            </a:r>
            <a:endParaRPr lang="fr-FR" sz="2000" b="1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8" name="Flèche : droite 17"/>
          <p:cNvSpPr/>
          <p:nvPr/>
        </p:nvSpPr>
        <p:spPr>
          <a:xfrm>
            <a:off x="1064603" y="5062802"/>
            <a:ext cx="680224" cy="320125"/>
          </a:xfrm>
          <a:prstGeom prst="rightArrow">
            <a:avLst/>
          </a:prstGeom>
          <a:solidFill>
            <a:srgbClr val="004492"/>
          </a:solidFill>
          <a:ln>
            <a:solidFill>
              <a:srgbClr val="00449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4672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29</a:t>
            </a:fld>
            <a:endParaRPr lang="fr-FR" sz="1800" dirty="0">
              <a:latin typeface="Eurostile-Roman" pitchFamily="2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245" y="2497873"/>
            <a:ext cx="7544713" cy="55154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Rectangle 2"/>
          <p:cNvSpPr/>
          <p:nvPr/>
        </p:nvSpPr>
        <p:spPr>
          <a:xfrm>
            <a:off x="6367346" y="2497873"/>
            <a:ext cx="1834612" cy="5515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Espace réservé du contenu 30"/>
          <p:cNvSpPr txBox="1">
            <a:spLocks/>
          </p:cNvSpPr>
          <p:nvPr/>
        </p:nvSpPr>
        <p:spPr>
          <a:xfrm>
            <a:off x="6593630" y="1870125"/>
            <a:ext cx="177313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2200" dirty="0">
                <a:solidFill>
                  <a:srgbClr val="FF0000"/>
                </a:solidFill>
                <a:latin typeface="Calibri (Corps)"/>
              </a:rPr>
              <a:t>Version List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4875" y="3985145"/>
            <a:ext cx="3153215" cy="1228896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5" name="Connecteur : en angle 24"/>
          <p:cNvCxnSpPr>
            <a:stCxn id="3" idx="2"/>
          </p:cNvCxnSpPr>
          <p:nvPr/>
        </p:nvCxnSpPr>
        <p:spPr>
          <a:xfrm rot="5400000">
            <a:off x="5252810" y="2874697"/>
            <a:ext cx="1857123" cy="2206562"/>
          </a:xfrm>
          <a:prstGeom prst="bentConnector2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189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30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7" name="Espace réservé du contenu 30"/>
          <p:cNvSpPr txBox="1">
            <a:spLocks/>
          </p:cNvSpPr>
          <p:nvPr/>
        </p:nvSpPr>
        <p:spPr>
          <a:xfrm>
            <a:off x="1084118" y="2852756"/>
            <a:ext cx="8059882" cy="19870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Attribuer une Version List aux nouveaux objets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Attribuer une Version List aux objets standards </a:t>
            </a:r>
            <a:r>
              <a:rPr lang="fr-FR" sz="2000" b="1" dirty="0">
                <a:solidFill>
                  <a:srgbClr val="004492"/>
                </a:solidFill>
                <a:latin typeface="Calibri (Corps)"/>
              </a:rPr>
              <a:t>modifiés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917188" y="2302587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Problématique de la Version List : </a:t>
            </a:r>
          </a:p>
        </p:txBody>
      </p:sp>
      <p:sp>
        <p:nvSpPr>
          <p:cNvPr id="12" name="Espace réservé du contenu 2"/>
          <p:cNvSpPr txBox="1">
            <a:spLocks/>
          </p:cNvSpPr>
          <p:nvPr/>
        </p:nvSpPr>
        <p:spPr>
          <a:xfrm>
            <a:off x="1972564" y="4839778"/>
            <a:ext cx="7886700" cy="1948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dirty="0">
                <a:solidFill>
                  <a:srgbClr val="FF0000"/>
                </a:solidFill>
                <a:latin typeface="Calibri (Corps)"/>
                <a:sym typeface="Wingdings" panose="05000000000000000000" pitchFamily="2" charset="2"/>
              </a:rPr>
              <a:t>Comparer chaque objet standard avec un objet de référence</a:t>
            </a:r>
            <a:endParaRPr lang="fr-FR" sz="2000" b="1" dirty="0">
              <a:solidFill>
                <a:srgbClr val="FF0000"/>
              </a:solidFill>
              <a:latin typeface="Calibri (Corps)"/>
            </a:endParaRPr>
          </a:p>
        </p:txBody>
      </p:sp>
      <p:sp>
        <p:nvSpPr>
          <p:cNvPr id="13" name="Flèche : droite 12"/>
          <p:cNvSpPr/>
          <p:nvPr/>
        </p:nvSpPr>
        <p:spPr>
          <a:xfrm>
            <a:off x="1064265" y="4839778"/>
            <a:ext cx="680224" cy="320125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rgbClr val="FF0000"/>
              </a:solidFill>
              <a:highlight>
                <a:srgbClr val="FF0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04401584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31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2723009" y="1422914"/>
            <a:ext cx="4569212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3000" b="1" dirty="0">
                <a:solidFill>
                  <a:srgbClr val="004492"/>
                </a:solidFill>
                <a:latin typeface="Calibri (Corps)"/>
              </a:rPr>
              <a:t>Travaux complémentaires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1064265" y="2476876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Outil de génération de documentation HTML :</a:t>
            </a:r>
          </a:p>
        </p:txBody>
      </p:sp>
      <p:sp>
        <p:nvSpPr>
          <p:cNvPr id="14" name="Espace réservé du contenu 30"/>
          <p:cNvSpPr txBox="1">
            <a:spLocks/>
          </p:cNvSpPr>
          <p:nvPr/>
        </p:nvSpPr>
        <p:spPr>
          <a:xfrm>
            <a:off x="1084118" y="2987697"/>
            <a:ext cx="8059882" cy="18407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Documentation des tables et champs ajoutés</a:t>
            </a: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NAV : serveur de documentation Web</a:t>
            </a:r>
          </a:p>
        </p:txBody>
      </p:sp>
      <p:sp>
        <p:nvSpPr>
          <p:cNvPr id="17" name="Espace réservé du contenu 2"/>
          <p:cNvSpPr txBox="1">
            <a:spLocks/>
          </p:cNvSpPr>
          <p:nvPr/>
        </p:nvSpPr>
        <p:spPr>
          <a:xfrm>
            <a:off x="1972902" y="5062802"/>
            <a:ext cx="7886700" cy="194855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2000" b="1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Indispensable pour passer le test de certification</a:t>
            </a:r>
            <a:endParaRPr lang="fr-FR" sz="2000" b="1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18" name="Flèche : droite 17"/>
          <p:cNvSpPr/>
          <p:nvPr/>
        </p:nvSpPr>
        <p:spPr>
          <a:xfrm>
            <a:off x="1064603" y="5062802"/>
            <a:ext cx="680224" cy="320125"/>
          </a:xfrm>
          <a:prstGeom prst="rightArrow">
            <a:avLst/>
          </a:prstGeom>
          <a:solidFill>
            <a:srgbClr val="004492"/>
          </a:solidFill>
          <a:ln>
            <a:solidFill>
              <a:srgbClr val="00449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817222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5917" y="0"/>
            <a:ext cx="6347713" cy="1320800"/>
          </a:xfrm>
        </p:spPr>
        <p:txBody>
          <a:bodyPr>
            <a:normAutofit/>
          </a:bodyPr>
          <a:lstStyle/>
          <a:p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Développement </a:t>
            </a:r>
            <a:br>
              <a:rPr lang="fr-FR" sz="35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500" dirty="0">
                <a:solidFill>
                  <a:schemeClr val="bg1"/>
                </a:solidFill>
                <a:latin typeface="Eurostile-Roman" pitchFamily="2" charset="0"/>
              </a:rPr>
              <a:t>de la solution</a:t>
            </a:r>
          </a:p>
        </p:txBody>
      </p:sp>
      <p:sp>
        <p:nvSpPr>
          <p:cNvPr id="11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32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7" name="Espace réservé du contenu 30"/>
          <p:cNvSpPr txBox="1">
            <a:spLocks/>
          </p:cNvSpPr>
          <p:nvPr/>
        </p:nvSpPr>
        <p:spPr>
          <a:xfrm>
            <a:off x="906036" y="2784963"/>
            <a:ext cx="8059882" cy="3258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000" dirty="0">
                <a:solidFill>
                  <a:srgbClr val="004492"/>
                </a:solidFill>
                <a:latin typeface="Calibri (Corps)"/>
              </a:rPr>
              <a:t>Documents techniques d’</a:t>
            </a:r>
            <a:r>
              <a:rPr lang="fr-FR" sz="2000" dirty="0" err="1">
                <a:solidFill>
                  <a:srgbClr val="004492"/>
                </a:solidFill>
                <a:latin typeface="Calibri (Corps)"/>
              </a:rPr>
              <a:t>Eskape</a:t>
            </a:r>
            <a:r>
              <a:rPr lang="fr-FR" sz="2000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20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 besoins d’entreprise :</a:t>
            </a:r>
            <a:endParaRPr lang="fr-FR" sz="2000" dirty="0">
              <a:solidFill>
                <a:srgbClr val="004492"/>
              </a:solidFill>
              <a:latin typeface="Calibri (Corps)"/>
            </a:endParaRPr>
          </a:p>
          <a:p>
            <a:pPr lvl="2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fr-FR" sz="1900" dirty="0">
                <a:solidFill>
                  <a:srgbClr val="004492"/>
                </a:solidFill>
                <a:latin typeface="Calibri (Corps)"/>
              </a:rPr>
              <a:t> Développement C/AL spécifiques sous Dynamics </a:t>
            </a:r>
            <a:r>
              <a:rPr lang="fr-FR" sz="1900" dirty="0" err="1">
                <a:solidFill>
                  <a:srgbClr val="004492"/>
                </a:solidFill>
                <a:latin typeface="Calibri (Corps)"/>
              </a:rPr>
              <a:t>Nav</a:t>
            </a:r>
            <a:endParaRPr lang="fr-FR" sz="1900" dirty="0">
              <a:solidFill>
                <a:srgbClr val="004492"/>
              </a:solidFill>
              <a:latin typeface="Calibri (Corps)"/>
            </a:endParaRPr>
          </a:p>
          <a:p>
            <a:pPr lvl="2">
              <a:lnSpc>
                <a:spcPct val="250000"/>
              </a:lnSpc>
              <a:buFont typeface="Wingdings" panose="05000000000000000000" pitchFamily="2" charset="2"/>
              <a:buChar char="q"/>
            </a:pPr>
            <a:r>
              <a:rPr lang="fr-FR" sz="1900" b="1" dirty="0">
                <a:solidFill>
                  <a:srgbClr val="004492"/>
                </a:solidFill>
                <a:latin typeface="Calibri (Corps)"/>
              </a:rPr>
              <a:t> </a:t>
            </a:r>
            <a:r>
              <a:rPr lang="fr-FR" sz="1900" dirty="0">
                <a:solidFill>
                  <a:srgbClr val="004492"/>
                </a:solidFill>
                <a:latin typeface="Calibri (Corps)"/>
              </a:rPr>
              <a:t>Développement C# sur des PSM : </a:t>
            </a:r>
            <a:endParaRPr lang="fr-FR" sz="19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000" b="1" dirty="0">
              <a:solidFill>
                <a:srgbClr val="004492"/>
              </a:solidFill>
              <a:latin typeface="Calibri (Corps)"/>
            </a:endParaRPr>
          </a:p>
          <a:p>
            <a:pPr lvl="1">
              <a:lnSpc>
                <a:spcPct val="250000"/>
              </a:lnSpc>
            </a:pPr>
            <a:endParaRPr lang="fr-FR" sz="2000" dirty="0">
              <a:solidFill>
                <a:srgbClr val="004492"/>
              </a:solidFill>
              <a:latin typeface="Calibri (Corps)"/>
            </a:endParaRPr>
          </a:p>
        </p:txBody>
      </p:sp>
      <p:sp>
        <p:nvSpPr>
          <p:cNvPr id="9" name="Espace réservé du contenu 30"/>
          <p:cNvSpPr txBox="1">
            <a:spLocks/>
          </p:cNvSpPr>
          <p:nvPr/>
        </p:nvSpPr>
        <p:spPr>
          <a:xfrm>
            <a:off x="906036" y="2257982"/>
            <a:ext cx="7886700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Travail sur des « fiches d’écarts » :</a:t>
            </a:r>
          </a:p>
        </p:txBody>
      </p:sp>
      <p:sp>
        <p:nvSpPr>
          <p:cNvPr id="8" name="Espace réservé du contenu 30"/>
          <p:cNvSpPr txBox="1">
            <a:spLocks/>
          </p:cNvSpPr>
          <p:nvPr/>
        </p:nvSpPr>
        <p:spPr>
          <a:xfrm>
            <a:off x="2767614" y="1320800"/>
            <a:ext cx="4569212" cy="1053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fr-FR" sz="3000" b="1" dirty="0">
                <a:solidFill>
                  <a:srgbClr val="004492"/>
                </a:solidFill>
                <a:latin typeface="Calibri (Corps)"/>
              </a:rPr>
              <a:t>Travaux complémentaires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615" y="4477372"/>
            <a:ext cx="1778619" cy="177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53901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5710" y="110750"/>
            <a:ext cx="6347713" cy="1320800"/>
          </a:xfrm>
        </p:spPr>
        <p:txBody>
          <a:bodyPr>
            <a:normAutofit/>
          </a:bodyPr>
          <a:lstStyle/>
          <a:p>
            <a:r>
              <a:rPr lang="fr-FR" sz="3800" dirty="0">
                <a:solidFill>
                  <a:schemeClr val="bg1"/>
                </a:solidFill>
                <a:latin typeface="Eurostile-Roman" pitchFamily="2" charset="0"/>
              </a:rPr>
              <a:t>Bilan humain et</a:t>
            </a:r>
            <a:br>
              <a:rPr lang="fr-FR" sz="38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800" dirty="0">
                <a:solidFill>
                  <a:schemeClr val="bg1"/>
                </a:solidFill>
                <a:latin typeface="Eurostile-Roman" pitchFamily="2" charset="0"/>
              </a:rPr>
              <a:t>technique</a:t>
            </a:r>
          </a:p>
        </p:txBody>
      </p:sp>
      <p:sp>
        <p:nvSpPr>
          <p:cNvPr id="5" name="Espace réservé du contenu 30"/>
          <p:cNvSpPr txBox="1">
            <a:spLocks/>
          </p:cNvSpPr>
          <p:nvPr/>
        </p:nvSpPr>
        <p:spPr>
          <a:xfrm>
            <a:off x="1449848" y="1912280"/>
            <a:ext cx="8359485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 Expérience très enrichissante et motivante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 Projet à la fois technique, complet et intéressant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 Mise en place des compétences acquises en Licence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 Découverte de technologies spécifiques </a:t>
            </a:r>
          </a:p>
        </p:txBody>
      </p:sp>
      <p:sp>
        <p:nvSpPr>
          <p:cNvPr id="6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33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6225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contenu 30"/>
          <p:cNvSpPr txBox="1">
            <a:spLocks/>
          </p:cNvSpPr>
          <p:nvPr/>
        </p:nvSpPr>
        <p:spPr>
          <a:xfrm>
            <a:off x="1161183" y="1987101"/>
            <a:ext cx="8359485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Calibri (Corps)"/>
              </a:rPr>
              <a:t> Stage de 8 semaines : atout pour le parcours professionnel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 Expérience supplémentaire dans le monde professionnel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fr-FR" sz="2200" dirty="0">
                <a:solidFill>
                  <a:srgbClr val="004492"/>
                </a:solidFill>
                <a:latin typeface="Calibri (Corps)"/>
                <a:sym typeface="Wingdings" panose="05000000000000000000" pitchFamily="2" charset="2"/>
              </a:rPr>
              <a:t> Me conforte dans mon envie de me diriger vers les métiers du développement logiciel</a:t>
            </a:r>
          </a:p>
          <a:p>
            <a:pPr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fr-FR" sz="2200" dirty="0">
              <a:solidFill>
                <a:srgbClr val="004492"/>
              </a:solidFill>
              <a:latin typeface="Calibri (Corps)"/>
              <a:sym typeface="Wingdings" panose="05000000000000000000" pitchFamily="2" charset="2"/>
            </a:endParaRPr>
          </a:p>
        </p:txBody>
      </p:sp>
      <p:sp>
        <p:nvSpPr>
          <p:cNvPr id="7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34</a:t>
            </a:fld>
            <a:endParaRPr lang="fr-FR" sz="1800" dirty="0">
              <a:latin typeface="Eurostile-Roman" pitchFamily="2" charset="0"/>
            </a:endParaRPr>
          </a:p>
        </p:txBody>
      </p:sp>
      <p:sp>
        <p:nvSpPr>
          <p:cNvPr id="8" name="Titre 1"/>
          <p:cNvSpPr>
            <a:spLocks noGrp="1"/>
          </p:cNvSpPr>
          <p:nvPr>
            <p:ph type="title"/>
          </p:nvPr>
        </p:nvSpPr>
        <p:spPr>
          <a:xfrm>
            <a:off x="255710" y="110750"/>
            <a:ext cx="6347713" cy="1320800"/>
          </a:xfrm>
        </p:spPr>
        <p:txBody>
          <a:bodyPr>
            <a:normAutofit/>
          </a:bodyPr>
          <a:lstStyle/>
          <a:p>
            <a:r>
              <a:rPr lang="fr-FR" sz="3800" dirty="0">
                <a:solidFill>
                  <a:schemeClr val="bg1"/>
                </a:solidFill>
                <a:latin typeface="Eurostile-Roman" pitchFamily="2" charset="0"/>
              </a:rPr>
              <a:t>Bilan humain et</a:t>
            </a:r>
            <a:br>
              <a:rPr lang="fr-FR" sz="3800" dirty="0">
                <a:solidFill>
                  <a:schemeClr val="bg1"/>
                </a:solidFill>
                <a:latin typeface="Eurostile-Roman" pitchFamily="2" charset="0"/>
              </a:rPr>
            </a:br>
            <a:r>
              <a:rPr lang="fr-FR" sz="3800" dirty="0">
                <a:solidFill>
                  <a:schemeClr val="bg1"/>
                </a:solidFill>
                <a:latin typeface="Eurostile-Roman" pitchFamily="2" charset="0"/>
              </a:rPr>
              <a:t>technique</a:t>
            </a:r>
          </a:p>
        </p:txBody>
      </p:sp>
    </p:spTree>
    <p:extLst>
      <p:ext uri="{BB962C8B-B14F-4D97-AF65-F5344CB8AC3E}">
        <p14:creationId xmlns:p14="http://schemas.microsoft.com/office/powerpoint/2010/main" val="22842975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30"/>
          <p:cNvSpPr txBox="1">
            <a:spLocks/>
          </p:cNvSpPr>
          <p:nvPr/>
        </p:nvSpPr>
        <p:spPr>
          <a:xfrm>
            <a:off x="0" y="2018273"/>
            <a:ext cx="9144000" cy="38629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250000"/>
              </a:lnSpc>
              <a:buNone/>
            </a:pPr>
            <a:r>
              <a:rPr lang="fr-FR" sz="5500" b="1" dirty="0">
                <a:solidFill>
                  <a:srgbClr val="004492"/>
                </a:solidFill>
                <a:latin typeface="Eurostile-Roman" pitchFamily="2" charset="0"/>
              </a:rPr>
              <a:t>Merci de votre attention</a:t>
            </a:r>
            <a:endParaRPr lang="fr-FR" sz="5500" b="1" dirty="0">
              <a:solidFill>
                <a:srgbClr val="004492"/>
              </a:solidFill>
              <a:latin typeface="Eurostile-Roman" pitchFamily="2" charset="0"/>
              <a:sym typeface="Wingdings" panose="05000000000000000000" pitchFamily="2" charset="2"/>
            </a:endParaRPr>
          </a:p>
        </p:txBody>
      </p:sp>
      <p:sp>
        <p:nvSpPr>
          <p:cNvPr id="4" name="Espace réservé du numéro de diapositive 1"/>
          <p:cNvSpPr>
            <a:spLocks noGrp="1"/>
          </p:cNvSpPr>
          <p:nvPr>
            <p:ph type="sldNum" sz="quarter" idx="12"/>
          </p:nvPr>
        </p:nvSpPr>
        <p:spPr>
          <a:xfrm>
            <a:off x="6603423" y="6255991"/>
            <a:ext cx="2057400" cy="365125"/>
          </a:xfrm>
        </p:spPr>
        <p:txBody>
          <a:bodyPr/>
          <a:lstStyle/>
          <a:p>
            <a:r>
              <a:rPr lang="fr-FR" sz="1800" dirty="0">
                <a:latin typeface="Eurostile-Roman" pitchFamily="2" charset="0"/>
              </a:rPr>
              <a:t>Diapositive </a:t>
            </a:r>
            <a:fld id="{0A0AF257-D28F-495E-9E53-3BED59B8AA35}" type="slidenum">
              <a:rPr lang="fr-FR" sz="1800" smtClean="0">
                <a:latin typeface="Eurostile-Roman" pitchFamily="2" charset="0"/>
              </a:rPr>
              <a:t>35</a:t>
            </a:fld>
            <a:endParaRPr lang="fr-FR" sz="1800" dirty="0">
              <a:latin typeface="Eurostile-Roma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860249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2010</TotalTime>
  <Words>902</Words>
  <Application>Microsoft Office PowerPoint</Application>
  <PresentationFormat>Affichage à l'écran (4:3)</PresentationFormat>
  <Paragraphs>234</Paragraphs>
  <Slides>35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35</vt:i4>
      </vt:variant>
    </vt:vector>
  </HeadingPairs>
  <TitlesOfParts>
    <vt:vector size="43" baseType="lpstr">
      <vt:lpstr>Arial</vt:lpstr>
      <vt:lpstr>Calibri</vt:lpstr>
      <vt:lpstr>Calibri (Corps)</vt:lpstr>
      <vt:lpstr>Calibri Light</vt:lpstr>
      <vt:lpstr>Eurostile-Roman</vt:lpstr>
      <vt:lpstr>Microsoft New Tai Lue</vt:lpstr>
      <vt:lpstr>Wingdings</vt:lpstr>
      <vt:lpstr>Thème Office</vt:lpstr>
      <vt:lpstr>Soutenance de Stage</vt:lpstr>
      <vt:lpstr>Présentation PowerPoint</vt:lpstr>
      <vt:lpstr>Présentation PowerPoint</vt:lpstr>
      <vt:lpstr>Présentation PowerPoint</vt:lpstr>
      <vt:lpstr>Présentation de l’entreprise    Eskape</vt:lpstr>
      <vt:lpstr>Présentation PowerPoint</vt:lpstr>
      <vt:lpstr>Sujet du stage</vt:lpstr>
      <vt:lpstr>Sujet du stage</vt:lpstr>
      <vt:lpstr>Sujet du stage</vt:lpstr>
      <vt:lpstr>Certification  CFMD</vt:lpstr>
      <vt:lpstr>Certification  CFMD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Développement  de la solution</vt:lpstr>
      <vt:lpstr>Bilan humain et technique</vt:lpstr>
      <vt:lpstr>Bilan humain et technique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Rapport de Stage</dc:title>
  <dc:creator>Florent ALAPETITE</dc:creator>
  <cp:lastModifiedBy>Florent ALAPETITE</cp:lastModifiedBy>
  <cp:revision>154</cp:revision>
  <dcterms:created xsi:type="dcterms:W3CDTF">2016-05-18T12:20:50Z</dcterms:created>
  <dcterms:modified xsi:type="dcterms:W3CDTF">2017-05-30T13:11:41Z</dcterms:modified>
</cp:coreProperties>
</file>
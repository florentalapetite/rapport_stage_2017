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sldIdLst>
    <p:sldId id="256" r:id="rId2"/>
    <p:sldId id="257" r:id="rId3"/>
    <p:sldId id="264" r:id="rId4"/>
    <p:sldId id="306" r:id="rId5"/>
    <p:sldId id="258" r:id="rId6"/>
    <p:sldId id="303" r:id="rId7"/>
    <p:sldId id="259" r:id="rId8"/>
    <p:sldId id="304" r:id="rId9"/>
    <p:sldId id="261" r:id="rId10"/>
    <p:sldId id="263" r:id="rId11"/>
    <p:sldId id="265" r:id="rId12"/>
    <p:sldId id="262" r:id="rId13"/>
    <p:sldId id="266" r:id="rId14"/>
    <p:sldId id="260" r:id="rId15"/>
    <p:sldId id="267" r:id="rId16"/>
    <p:sldId id="269" r:id="rId17"/>
    <p:sldId id="270" r:id="rId18"/>
    <p:sldId id="271" r:id="rId19"/>
    <p:sldId id="272" r:id="rId20"/>
    <p:sldId id="275" r:id="rId21"/>
    <p:sldId id="274" r:id="rId22"/>
    <p:sldId id="277" r:id="rId23"/>
    <p:sldId id="278" r:id="rId24"/>
    <p:sldId id="307" r:id="rId25"/>
    <p:sldId id="281" r:id="rId26"/>
    <p:sldId id="287" r:id="rId27"/>
    <p:sldId id="288" r:id="rId28"/>
    <p:sldId id="289" r:id="rId29"/>
    <p:sldId id="295" r:id="rId30"/>
    <p:sldId id="297" r:id="rId31"/>
    <p:sldId id="298" r:id="rId32"/>
    <p:sldId id="299" r:id="rId33"/>
    <p:sldId id="300" r:id="rId34"/>
    <p:sldId id="301" r:id="rId35"/>
    <p:sldId id="302" r:id="rId36"/>
    <p:sldId id="305" r:id="rId3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1953D"/>
    <a:srgbClr val="FFFFFF"/>
    <a:srgbClr val="004492"/>
    <a:srgbClr val="005DC4"/>
    <a:srgbClr val="EE7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15" autoAdjust="0"/>
    <p:restoredTop sz="94660"/>
  </p:normalViewPr>
  <p:slideViewPr>
    <p:cSldViewPr snapToGrid="0">
      <p:cViewPr varScale="1">
        <p:scale>
          <a:sx n="86" d="100"/>
          <a:sy n="86" d="100"/>
        </p:scale>
        <p:origin x="106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29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4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019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17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346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753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100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33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05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066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64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22FCAB-7790-4482-93FE-A99EB51AB40F}" type="datetimeFigureOut">
              <a:rPr lang="fr-FR" smtClean="0"/>
              <a:t>16/05/2017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68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1591827"/>
            <a:ext cx="9144000" cy="1646302"/>
          </a:xfrm>
        </p:spPr>
        <p:txBody>
          <a:bodyPr/>
          <a:lstStyle/>
          <a:p>
            <a:r>
              <a:rPr lang="fr-FR" sz="6000" b="1" dirty="0">
                <a:solidFill>
                  <a:srgbClr val="004492"/>
                </a:solidFill>
                <a:latin typeface="Eurostile" panose="020B0504020202050204" pitchFamily="34" charset="0"/>
              </a:rPr>
              <a:t>Soutenance de Stage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29936" y="3391483"/>
            <a:ext cx="8063345" cy="10968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500" dirty="0">
                <a:solidFill>
                  <a:srgbClr val="EE7B21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Développement d’un service interface entre une solution de couplage téléphonie informatique et l’ERP Microsoft Dynamics </a:t>
            </a:r>
            <a:r>
              <a:rPr lang="fr-FR" sz="2500" dirty="0" err="1">
                <a:solidFill>
                  <a:srgbClr val="EE7B21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Nav</a:t>
            </a:r>
            <a:endParaRPr lang="fr-FR" sz="2500" dirty="0">
              <a:solidFill>
                <a:srgbClr val="EE7B21"/>
              </a:solidFill>
              <a:latin typeface="Eurostile" panose="020B0504020202050204" pitchFamily="34" charset="0"/>
              <a:cs typeface="Microsoft New Tai Lue" panose="020B0502040204020203" pitchFamily="34" charset="0"/>
            </a:endParaRPr>
          </a:p>
        </p:txBody>
      </p:sp>
      <p:sp>
        <p:nvSpPr>
          <p:cNvPr id="4" name="ZoneTexte 3"/>
          <p:cNvSpPr txBox="1"/>
          <p:nvPr/>
        </p:nvSpPr>
        <p:spPr>
          <a:xfrm>
            <a:off x="277661" y="234648"/>
            <a:ext cx="271092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dirty="0">
                <a:solidFill>
                  <a:schemeClr val="bg1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ALAPETITE</a:t>
            </a:r>
          </a:p>
          <a:p>
            <a:r>
              <a:rPr lang="fr-FR" sz="2600" dirty="0">
                <a:solidFill>
                  <a:schemeClr val="bg1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Florent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945" y="255058"/>
            <a:ext cx="1995055" cy="1556260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2988588" y="6010996"/>
            <a:ext cx="3850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Année scolaire 2015 - 2016</a:t>
            </a:r>
          </a:p>
        </p:txBody>
      </p:sp>
      <p:pic>
        <p:nvPicPr>
          <p:cNvPr id="1026" name="Picture 2" descr="https://www.univ-orleans.fr/iut-orleans/informatique/intra/concours/2015/img/iut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62" y="5403273"/>
            <a:ext cx="1350818" cy="1350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ZoneTexte 8"/>
          <p:cNvSpPr txBox="1"/>
          <p:nvPr/>
        </p:nvSpPr>
        <p:spPr>
          <a:xfrm>
            <a:off x="0" y="151893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005DC4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Maître de stage : M. </a:t>
            </a:r>
            <a:r>
              <a:rPr lang="fr-FR" sz="1600" dirty="0" err="1">
                <a:solidFill>
                  <a:srgbClr val="005DC4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Dagois</a:t>
            </a:r>
            <a:endParaRPr lang="fr-FR" sz="1600" dirty="0">
              <a:solidFill>
                <a:srgbClr val="005DC4"/>
              </a:solidFill>
              <a:latin typeface="Eurostile" panose="020B0504020202050204" pitchFamily="34" charset="0"/>
              <a:cs typeface="Microsoft New Tai Lue" panose="020B0502040204020203" pitchFamily="34" charset="0"/>
            </a:endParaRPr>
          </a:p>
          <a:p>
            <a:pPr algn="ctr"/>
            <a:r>
              <a:rPr lang="fr-FR" sz="1600" dirty="0">
                <a:solidFill>
                  <a:srgbClr val="005DC4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Professeur référent : Mme . </a:t>
            </a:r>
            <a:r>
              <a:rPr lang="fr-FR" sz="1600" dirty="0" err="1">
                <a:solidFill>
                  <a:srgbClr val="005DC4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Anglade</a:t>
            </a:r>
            <a:endParaRPr lang="fr-FR" sz="1600" dirty="0">
              <a:solidFill>
                <a:srgbClr val="005DC4"/>
              </a:solidFill>
              <a:latin typeface="Eurostile" panose="020B0504020202050204" pitchFamily="34" charset="0"/>
              <a:cs typeface="Microsoft New Tai Lue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0456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774123" y="1856798"/>
            <a:ext cx="78867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" panose="020B0504020202050204" pitchFamily="34" charset="0"/>
              </a:rPr>
              <a:t>Introduction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" panose="020B0504020202050204" pitchFamily="34" charset="0"/>
              </a:rPr>
              <a:t>Présentation de l’entreprise </a:t>
            </a:r>
            <a:r>
              <a:rPr lang="fr-FR" sz="26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</a:t>
            </a:r>
            <a:endParaRPr lang="fr-FR" sz="26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" panose="020B0504020202050204" pitchFamily="34" charset="0"/>
              </a:rPr>
              <a:t>Sujet du stage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" panose="020B0504020202050204" pitchFamily="34" charset="0"/>
              </a:rPr>
              <a:t>Analyse des besoins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" panose="020B0504020202050204" pitchFamily="34" charset="0"/>
              </a:rPr>
              <a:t>Développement de la solution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  <a:latin typeface="Eurostile" panose="020B0504020202050204" pitchFamily="34" charset="0"/>
              </a:rPr>
              <a:t>Bilan humain et technique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15315" y="99566"/>
            <a:ext cx="362932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1512130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204924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5" name="Espace réservé du contenu 2"/>
          <p:cNvSpPr txBox="1">
            <a:spLocks/>
          </p:cNvSpPr>
          <p:nvPr/>
        </p:nvSpPr>
        <p:spPr>
          <a:xfrm>
            <a:off x="1117024" y="219493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solidFill>
                  <a:srgbClr val="004492"/>
                </a:solidFill>
                <a:latin typeface="Eurostile" panose="020B0504020202050204" pitchFamily="34" charset="0"/>
              </a:rPr>
              <a:t>Validation du DUT Informatique : stage de 10 semaines</a:t>
            </a:r>
          </a:p>
          <a:p>
            <a:pPr marL="342900" lvl="1" indent="0">
              <a:lnSpc>
                <a:spcPct val="200000"/>
              </a:lnSpc>
              <a:buNone/>
            </a:pP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Partie intégrante de la formation</a:t>
            </a:r>
            <a:endParaRPr lang="fr-FR" sz="21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buNone/>
            </a:pPr>
            <a:endParaRPr lang="fr-FR" sz="24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r>
              <a:rPr lang="fr-FR" sz="2400" dirty="0">
                <a:solidFill>
                  <a:srgbClr val="004492"/>
                </a:solidFill>
                <a:latin typeface="Eurostile" panose="020B0504020202050204" pitchFamily="34" charset="0"/>
              </a:rPr>
              <a:t>Réalisé au sein de l’entreprise </a:t>
            </a:r>
            <a:r>
              <a:rPr lang="fr-FR" sz="24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</a:t>
            </a:r>
            <a:endParaRPr lang="fr-FR" sz="24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endParaRPr lang="fr-FR" sz="24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1"/>
            <a:endParaRPr lang="fr-FR" sz="24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4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endParaRPr lang="fr-FR" sz="24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32" y="4548981"/>
            <a:ext cx="2078736" cy="162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3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204924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" panose="020B0504020202050204" pitchFamily="34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5" name="Espace réservé du contenu 2"/>
          <p:cNvSpPr txBox="1">
            <a:spLocks/>
          </p:cNvSpPr>
          <p:nvPr/>
        </p:nvSpPr>
        <p:spPr>
          <a:xfrm>
            <a:off x="1018309" y="192477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</a:pPr>
            <a:r>
              <a:rPr lang="fr-FR" sz="2400" dirty="0">
                <a:solidFill>
                  <a:srgbClr val="004492"/>
                </a:solidFill>
                <a:latin typeface="Eurostile" panose="020B0504020202050204" pitchFamily="34" charset="0"/>
              </a:rPr>
              <a:t>Travail autour de 3 projets majeurs :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Service interface CTI / Dynamics </a:t>
            </a:r>
            <a:r>
              <a:rPr lang="fr-FR" sz="21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endParaRPr lang="fr-FR" sz="21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Création de rapports dynamiques (</a:t>
            </a:r>
            <a:r>
              <a:rPr lang="fr-FR" sz="2100" dirty="0" err="1">
                <a:solidFill>
                  <a:srgbClr val="004492"/>
                </a:solidFill>
                <a:latin typeface="Eurostile" panose="020B0504020202050204" pitchFamily="34" charset="0"/>
              </a:rPr>
              <a:t>Reporting</a:t>
            </a: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 Services)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Mise en place de la partie fonctionnelle : gestion des absences</a:t>
            </a:r>
          </a:p>
          <a:p>
            <a:pPr>
              <a:lnSpc>
                <a:spcPct val="250000"/>
              </a:lnSpc>
            </a:pPr>
            <a:endParaRPr lang="fr-FR" sz="24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3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0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" panose="020B0504020202050204" pitchFamily="34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dirty="0">
                <a:solidFill>
                  <a:schemeClr val="bg1"/>
                </a:solidFill>
                <a:latin typeface="Eurostile" panose="020B0504020202050204" pitchFamily="34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" panose="020B0504020202050204" pitchFamily="34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SARL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Entreprise de services du numérique (ESN)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Fondée en 1998 par Laurent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Fontenit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Plusieurs pôles :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Eurostile" panose="020B0504020202050204" pitchFamily="34" charset="0"/>
              </a:rPr>
              <a:t>Développement ERP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Eurostile" panose="020B0504020202050204" pitchFamily="34" charset="0"/>
              </a:rPr>
              <a:t>Système et réseaux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Eurostile" panose="020B0504020202050204" pitchFamily="34" charset="0"/>
              </a:rPr>
              <a:t>Administratif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Eurostile" panose="020B0504020202050204" pitchFamily="34" charset="0"/>
              </a:rPr>
              <a:t>Marketing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6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0" y="53794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" panose="020B0504020202050204" pitchFamily="34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dirty="0">
                <a:solidFill>
                  <a:schemeClr val="bg1"/>
                </a:solidFill>
                <a:latin typeface="Eurostile" panose="020B0504020202050204" pitchFamily="34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" panose="020B0504020202050204" pitchFamily="34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20084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Projets : </a:t>
            </a:r>
            <a:r>
              <a:rPr lang="fr-FR" sz="2200" dirty="0">
                <a:solidFill>
                  <a:srgbClr val="FF0000"/>
                </a:solidFill>
                <a:latin typeface="Eurostile" panose="020B0504020202050204" pitchFamily="34" charset="0"/>
              </a:rPr>
              <a:t>ERP Microsoft Dynamics </a:t>
            </a:r>
            <a:r>
              <a:rPr lang="fr-FR" sz="2200" dirty="0" err="1">
                <a:solidFill>
                  <a:srgbClr val="FF0000"/>
                </a:solidFill>
                <a:latin typeface="Eurostile" panose="020B0504020202050204" pitchFamily="34" charset="0"/>
              </a:rPr>
              <a:t>Nav</a:t>
            </a:r>
            <a:endParaRPr lang="fr-FR" sz="2200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Mise en place</a:t>
            </a: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Développement de modules spécifiques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122218" y="4010891"/>
            <a:ext cx="676448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Progiciel de gestion intégré de Microsoft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Adapté aux PME-PMI</a:t>
            </a:r>
          </a:p>
          <a:p>
            <a:pPr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	</a:t>
            </a:r>
            <a:endParaRPr lang="fr-FR" sz="1900" dirty="0"/>
          </a:p>
        </p:txBody>
      </p:sp>
    </p:spTree>
    <p:extLst>
      <p:ext uri="{BB962C8B-B14F-4D97-AF65-F5344CB8AC3E}">
        <p14:creationId xmlns:p14="http://schemas.microsoft.com/office/powerpoint/2010/main" val="4214089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" panose="020B0504020202050204" pitchFamily="34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784514" y="2199698"/>
            <a:ext cx="7886700" cy="4351338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Besoin exprimé par un client d’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1"/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Identification des appels reçus et passés par l’entreprise</a:t>
            </a:r>
          </a:p>
          <a:p>
            <a:pPr lvl="1"/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1"/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Intégration de la solution dans le système d’information</a:t>
            </a:r>
          </a:p>
          <a:p>
            <a:pPr marL="457200" lvl="1" indent="0"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1"/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Solution déjà vendue à l’entreprise cliente : enjeu important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9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" panose="020B0504020202050204" pitchFamily="34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784514" y="2199698"/>
            <a:ext cx="78867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fr-FR" sz="2600" b="1" u="sng" dirty="0">
                <a:solidFill>
                  <a:srgbClr val="004492"/>
                </a:solidFill>
                <a:latin typeface="Eurostile" panose="020B0504020202050204" pitchFamily="34" charset="0"/>
              </a:rPr>
              <a:t>Interface :</a:t>
            </a:r>
          </a:p>
          <a:p>
            <a:pPr marL="0" indent="0"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2"/>
            <a:r>
              <a:rPr lang="fr-FR" sz="2100" dirty="0">
                <a:solidFill>
                  <a:srgbClr val="FF0000"/>
                </a:solidFill>
                <a:latin typeface="Eurostile" panose="020B0504020202050204" pitchFamily="34" charset="0"/>
              </a:rPr>
              <a:t>Solution de couplage téléphonie informatique (CTI)</a:t>
            </a:r>
          </a:p>
          <a:p>
            <a:pPr marL="0" indent="0">
              <a:buNone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		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Evènements téléphoniques</a:t>
            </a: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0" indent="0"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0" indent="0"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2"/>
            <a:r>
              <a:rPr lang="fr-FR" sz="2100" dirty="0">
                <a:solidFill>
                  <a:srgbClr val="FF0000"/>
                </a:solidFill>
                <a:latin typeface="Eurostile" panose="020B0504020202050204" pitchFamily="34" charset="0"/>
              </a:rPr>
              <a:t>ERP Microsoft Dynamics </a:t>
            </a:r>
            <a:r>
              <a:rPr lang="fr-FR" sz="2100" dirty="0" err="1">
                <a:solidFill>
                  <a:srgbClr val="FF0000"/>
                </a:solidFill>
                <a:latin typeface="Eurostile" panose="020B0504020202050204" pitchFamily="34" charset="0"/>
              </a:rPr>
              <a:t>Nav</a:t>
            </a:r>
            <a:endParaRPr lang="fr-FR" sz="2100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marL="0" indent="0">
              <a:buNone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		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Données des contacts</a:t>
            </a: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6196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" panose="020B0504020202050204" pitchFamily="34" charset="0"/>
              </a:rPr>
              <a:t>Solution CTI Eliot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722168" y="2210089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ELIOT : Solution de couplage téléphonie-informatique (CTI)</a:t>
            </a:r>
          </a:p>
          <a:p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Développée par</a:t>
            </a:r>
          </a:p>
          <a:p>
            <a:pPr marL="0" indent="0"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Reçoit les évènements du PABX :</a:t>
            </a:r>
          </a:p>
          <a:p>
            <a:pPr lvl="1">
              <a:lnSpc>
                <a:spcPct val="150000"/>
              </a:lnSpc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Appel entrant</a:t>
            </a:r>
          </a:p>
          <a:p>
            <a:pPr lvl="1">
              <a:lnSpc>
                <a:spcPct val="150000"/>
              </a:lnSpc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Appel sortant</a:t>
            </a:r>
          </a:p>
          <a:p>
            <a:pPr lvl="1">
              <a:lnSpc>
                <a:spcPct val="150000"/>
              </a:lnSpc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Transfert d’appel</a:t>
            </a:r>
          </a:p>
          <a:p>
            <a:pPr lvl="1">
              <a:lnSpc>
                <a:spcPct val="150000"/>
              </a:lnSpc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Poste décroché/raccroché</a:t>
            </a:r>
          </a:p>
          <a:p>
            <a:pPr lvl="1">
              <a:lnSpc>
                <a:spcPct val="150000"/>
              </a:lnSpc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… </a:t>
            </a:r>
          </a:p>
        </p:txBody>
      </p:sp>
      <p:pic>
        <p:nvPicPr>
          <p:cNvPr id="1026" name="Picture 2" descr="http://www.isi-com.com/wp-content/uploads/2015/01/logo_isicom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7164" y="2875729"/>
            <a:ext cx="2137063" cy="558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://www.isi-com.com/wp-content/uploads/2014/11/plaquette_eliot1-e143333416854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738" y="401302"/>
            <a:ext cx="1638300" cy="1638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7855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414296" y="2055236"/>
            <a:ext cx="6347714" cy="757834"/>
          </a:xfrm>
        </p:spPr>
        <p:txBody>
          <a:bodyPr/>
          <a:lstStyle/>
          <a:p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Livré avec un bandeau agent personnel (PCB) :</a:t>
            </a:r>
          </a:p>
          <a:p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718" y="3735881"/>
            <a:ext cx="2962688" cy="48584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ZoneTexte 4"/>
          <p:cNvSpPr txBox="1"/>
          <p:nvPr/>
        </p:nvSpPr>
        <p:spPr>
          <a:xfrm>
            <a:off x="2942552" y="2719552"/>
            <a:ext cx="22548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Eurostile" panose="020B0504020202050204" pitchFamily="34" charset="0"/>
              </a:rPr>
              <a:t>Liste des agents</a:t>
            </a:r>
          </a:p>
        </p:txBody>
      </p:sp>
      <p:cxnSp>
        <p:nvCxnSpPr>
          <p:cNvPr id="7" name="Connecteur droit avec flèche 6"/>
          <p:cNvCxnSpPr/>
          <p:nvPr/>
        </p:nvCxnSpPr>
        <p:spPr>
          <a:xfrm flipV="1">
            <a:off x="3108807" y="4221725"/>
            <a:ext cx="124692" cy="632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2429935" y="4853989"/>
            <a:ext cx="22548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Eurostile" panose="020B0504020202050204" pitchFamily="34" charset="0"/>
              </a:rPr>
              <a:t>Etat de l’agent</a:t>
            </a:r>
          </a:p>
        </p:txBody>
      </p:sp>
      <p:cxnSp>
        <p:nvCxnSpPr>
          <p:cNvPr id="14" name="Connecteur droit avec flèche 13"/>
          <p:cNvCxnSpPr/>
          <p:nvPr/>
        </p:nvCxnSpPr>
        <p:spPr>
          <a:xfrm flipH="1">
            <a:off x="3690698" y="3027329"/>
            <a:ext cx="20782" cy="663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ZoneTexte 20"/>
          <p:cNvSpPr txBox="1"/>
          <p:nvPr/>
        </p:nvSpPr>
        <p:spPr>
          <a:xfrm>
            <a:off x="3912371" y="4568094"/>
            <a:ext cx="22548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Eurostile" panose="020B0504020202050204" pitchFamily="34" charset="0"/>
              </a:rPr>
              <a:t>Contacts</a:t>
            </a:r>
          </a:p>
        </p:txBody>
      </p:sp>
      <p:cxnSp>
        <p:nvCxnSpPr>
          <p:cNvPr id="22" name="Connecteur droit avec flèche 21"/>
          <p:cNvCxnSpPr/>
          <p:nvPr/>
        </p:nvCxnSpPr>
        <p:spPr>
          <a:xfrm flipH="1" flipV="1">
            <a:off x="4149062" y="4266725"/>
            <a:ext cx="92354" cy="3013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ZoneTexte 25"/>
          <p:cNvSpPr txBox="1"/>
          <p:nvPr/>
        </p:nvSpPr>
        <p:spPr>
          <a:xfrm>
            <a:off x="4556608" y="2881796"/>
            <a:ext cx="22548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Eurostile" panose="020B0504020202050204" pitchFamily="34" charset="0"/>
              </a:rPr>
              <a:t>Historique d’appels</a:t>
            </a:r>
          </a:p>
        </p:txBody>
      </p:sp>
      <p:cxnSp>
        <p:nvCxnSpPr>
          <p:cNvPr id="27" name="Connecteur droit avec flèche 26"/>
          <p:cNvCxnSpPr/>
          <p:nvPr/>
        </p:nvCxnSpPr>
        <p:spPr>
          <a:xfrm flipH="1">
            <a:off x="4684763" y="3230920"/>
            <a:ext cx="355023" cy="4599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itre 1"/>
          <p:cNvSpPr txBox="1">
            <a:spLocks/>
          </p:cNvSpPr>
          <p:nvPr/>
        </p:nvSpPr>
        <p:spPr>
          <a:xfrm>
            <a:off x="135082" y="0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400">
                <a:solidFill>
                  <a:schemeClr val="bg1"/>
                </a:solidFill>
                <a:latin typeface="Eurostile" panose="020B0504020202050204" pitchFamily="34" charset="0"/>
              </a:rPr>
              <a:t>Solution CTI Eliot</a:t>
            </a:r>
            <a:endParaRPr lang="fr-FR" sz="4400" dirty="0">
              <a:solidFill>
                <a:schemeClr val="bg1"/>
              </a:solidFill>
              <a:latin typeface="Eurostile" panose="020B0504020202050204" pitchFamily="34" charset="0"/>
            </a:endParaRPr>
          </a:p>
        </p:txBody>
      </p:sp>
      <p:sp>
        <p:nvSpPr>
          <p:cNvPr id="18" name="Espace réservé du contenu 2"/>
          <p:cNvSpPr txBox="1">
            <a:spLocks/>
          </p:cNvSpPr>
          <p:nvPr/>
        </p:nvSpPr>
        <p:spPr>
          <a:xfrm>
            <a:off x="543986" y="5731800"/>
            <a:ext cx="8281554" cy="7578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Installé sur les ordinateurs agents utilisant les postes téléphoniques</a:t>
            </a: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3223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contenu 2"/>
          <p:cNvSpPr txBox="1">
            <a:spLocks/>
          </p:cNvSpPr>
          <p:nvPr/>
        </p:nvSpPr>
        <p:spPr>
          <a:xfrm>
            <a:off x="1256912" y="2117373"/>
            <a:ext cx="8074124" cy="7578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4492"/>
              </a:buClr>
              <a:buFont typeface="Eurostile" panose="020B0504020202050204" pitchFamily="34" charset="0"/>
              <a:buChar char="•"/>
            </a:pP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Apparition d’un bandeau mobile lors de communications téléphoniques</a:t>
            </a:r>
          </a:p>
          <a:p>
            <a:pPr marL="0" indent="0">
              <a:buNone/>
            </a:pPr>
            <a:endParaRPr lang="fr-FR" sz="21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0" indent="0">
              <a:buNone/>
            </a:pPr>
            <a:endParaRPr lang="fr-FR" sz="21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16" name="Titre 1"/>
          <p:cNvSpPr txBox="1">
            <a:spLocks/>
          </p:cNvSpPr>
          <p:nvPr/>
        </p:nvSpPr>
        <p:spPr>
          <a:xfrm>
            <a:off x="135082" y="0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400">
                <a:solidFill>
                  <a:schemeClr val="bg1"/>
                </a:solidFill>
                <a:latin typeface="Eurostile" panose="020B0504020202050204" pitchFamily="34" charset="0"/>
              </a:rPr>
              <a:t>Solution CTI Eliot</a:t>
            </a:r>
            <a:endParaRPr lang="fr-FR" sz="4400" dirty="0">
              <a:solidFill>
                <a:schemeClr val="bg1"/>
              </a:solidFill>
              <a:latin typeface="Eurostile" panose="020B0504020202050204" pitchFamily="34" charset="0"/>
            </a:endParaRPr>
          </a:p>
        </p:txBody>
      </p:sp>
      <p:sp>
        <p:nvSpPr>
          <p:cNvPr id="17" name="Espace réservé du contenu 2"/>
          <p:cNvSpPr txBox="1">
            <a:spLocks/>
          </p:cNvSpPr>
          <p:nvPr/>
        </p:nvSpPr>
        <p:spPr>
          <a:xfrm>
            <a:off x="1256912" y="4711636"/>
            <a:ext cx="8074124" cy="7578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4492"/>
              </a:buClr>
              <a:buFont typeface="Eurostile" panose="020B0504020202050204" pitchFamily="34" charset="0"/>
              <a:buChar char="•"/>
            </a:pP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En standard : informations </a:t>
            </a:r>
            <a:r>
              <a:rPr lang="fr-FR" sz="2100" b="1" dirty="0">
                <a:solidFill>
                  <a:srgbClr val="004492"/>
                </a:solidFill>
                <a:latin typeface="Eurostile" panose="020B0504020202050204" pitchFamily="34" charset="0"/>
              </a:rPr>
              <a:t>basiques</a:t>
            </a: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 </a:t>
            </a:r>
          </a:p>
          <a:p>
            <a:pPr marL="0" indent="0">
              <a:buNone/>
            </a:pPr>
            <a:endParaRPr lang="fr-FR" sz="21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0" indent="0">
              <a:buNone/>
            </a:pPr>
            <a:endParaRPr lang="fr-FR" sz="21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1466" y="3278999"/>
            <a:ext cx="4296375" cy="5144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64471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Espace réservé du contenu 30"/>
          <p:cNvSpPr>
            <a:spLocks noGrp="1"/>
          </p:cNvSpPr>
          <p:nvPr>
            <p:ph idx="1"/>
          </p:nvPr>
        </p:nvSpPr>
        <p:spPr>
          <a:xfrm>
            <a:off x="805295" y="1742498"/>
            <a:ext cx="78867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Identification des appels avec les données de la table Contact de Microsoft 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10835" y="-76201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>
                <a:solidFill>
                  <a:schemeClr val="bg1"/>
                </a:solidFill>
                <a:latin typeface="Eurostile" panose="020B0504020202050204" pitchFamily="34" charset="0"/>
              </a:rPr>
              <a:t>Analyse des besoins</a:t>
            </a:r>
            <a:endParaRPr lang="fr-FR" sz="4000" dirty="0">
              <a:solidFill>
                <a:schemeClr val="bg1"/>
              </a:solidFill>
              <a:latin typeface="Eurostile" panose="020B0504020202050204" pitchFamily="34" charset="0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431" y="3135455"/>
            <a:ext cx="6687483" cy="3124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486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Espace réservé du contenu 30"/>
          <p:cNvSpPr>
            <a:spLocks noGrp="1"/>
          </p:cNvSpPr>
          <p:nvPr>
            <p:ph idx="1"/>
          </p:nvPr>
        </p:nvSpPr>
        <p:spPr>
          <a:xfrm>
            <a:off x="919595" y="1922895"/>
            <a:ext cx="7886700" cy="237230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Conservation des traces des appels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Entrants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Sortants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Internes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6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4" name="Titre 1"/>
          <p:cNvSpPr txBox="1">
            <a:spLocks/>
          </p:cNvSpPr>
          <p:nvPr/>
        </p:nvSpPr>
        <p:spPr>
          <a:xfrm>
            <a:off x="110835" y="-76201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>
                <a:solidFill>
                  <a:schemeClr val="bg1"/>
                </a:solidFill>
                <a:latin typeface="Eurostile" panose="020B0504020202050204" pitchFamily="34" charset="0"/>
              </a:rPr>
              <a:t>Analyse des besoins</a:t>
            </a:r>
            <a:endParaRPr lang="fr-FR" sz="4000" dirty="0">
              <a:solidFill>
                <a:schemeClr val="bg1"/>
              </a:solidFill>
              <a:latin typeface="Eurostile" panose="020B0504020202050204" pitchFamily="34" charset="0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919595" y="4295197"/>
            <a:ext cx="7886700" cy="23723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Levée de fiche contact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Directement dans Dynamics </a:t>
            </a: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Nav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Avec les informations de la communication en cours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fr-FR" sz="16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6198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0835" y="-76201"/>
            <a:ext cx="6347713" cy="1320800"/>
          </a:xfrm>
        </p:spPr>
        <p:txBody>
          <a:bodyPr>
            <a:normAutofit/>
          </a:bodyPr>
          <a:lstStyle/>
          <a:p>
            <a:r>
              <a:rPr lang="fr-FR" sz="4000" dirty="0">
                <a:solidFill>
                  <a:schemeClr val="bg1"/>
                </a:solidFill>
                <a:latin typeface="Eurostile" panose="020B0504020202050204" pitchFamily="34" charset="0"/>
              </a:rPr>
              <a:t>Analyse des besoins</a:t>
            </a:r>
          </a:p>
        </p:txBody>
      </p:sp>
      <p:sp>
        <p:nvSpPr>
          <p:cNvPr id="5" name="Titre 1"/>
          <p:cNvSpPr txBox="1">
            <a:spLocks/>
          </p:cNvSpPr>
          <p:nvPr/>
        </p:nvSpPr>
        <p:spPr>
          <a:xfrm>
            <a:off x="0" y="1488208"/>
            <a:ext cx="9144000" cy="7735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Représentation schématique des interactions à mettre en place</a:t>
            </a: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008" y="1693720"/>
            <a:ext cx="8205984" cy="5309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933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0835" y="-76201"/>
            <a:ext cx="6347713" cy="1320800"/>
          </a:xfrm>
        </p:spPr>
        <p:txBody>
          <a:bodyPr>
            <a:normAutofit/>
          </a:bodyPr>
          <a:lstStyle/>
          <a:p>
            <a:r>
              <a:rPr lang="fr-FR" sz="4000" dirty="0">
                <a:solidFill>
                  <a:schemeClr val="bg1"/>
                </a:solidFill>
                <a:latin typeface="Eurostile" panose="020B0504020202050204" pitchFamily="34" charset="0"/>
              </a:rPr>
              <a:t>Analyse des besoins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464" y="1158707"/>
            <a:ext cx="7797346" cy="598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826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Auto-formation : utilisation de nouvelles technologies :</a:t>
            </a:r>
          </a:p>
        </p:txBody>
      </p:sp>
      <p:pic>
        <p:nvPicPr>
          <p:cNvPr id="2050" name="Picture 2" descr="http://www.guillaumebrout.fr/wp-content/uploads/2016/01/2p4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103" y="3156333"/>
            <a:ext cx="1579707" cy="15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020292" y="296964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Langage de programmation orienté objet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Langage propriétaire : Microsoft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Similitudes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C++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JAVA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5871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257300" y="1816796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Auto-formation : utilisation de nouvelles technologies :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822046" y="2993720"/>
            <a:ext cx="2597727" cy="854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600" b="1" dirty="0">
                <a:solidFill>
                  <a:srgbClr val="FF0000"/>
                </a:solidFill>
                <a:latin typeface="Eurostile" panose="020B0504020202050204" pitchFamily="34" charset="0"/>
              </a:rPr>
              <a:t>Web Services 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3041074" y="2719914"/>
            <a:ext cx="7886700" cy="1872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Application servant de communication</a:t>
            </a:r>
          </a:p>
          <a:p>
            <a:pPr marL="342900" lvl="1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Entre programmes distribués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Protocole de transport : HTTP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11" name="Espace réservé du contenu 30"/>
          <p:cNvSpPr txBox="1">
            <a:spLocks/>
          </p:cNvSpPr>
          <p:nvPr/>
        </p:nvSpPr>
        <p:spPr>
          <a:xfrm>
            <a:off x="822046" y="4971336"/>
            <a:ext cx="2055655" cy="13032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fr-FR" sz="2500" b="1" dirty="0">
                <a:solidFill>
                  <a:srgbClr val="FF0000"/>
                </a:solidFill>
                <a:latin typeface="Eurostile" panose="020B0504020202050204" pitchFamily="34" charset="0"/>
              </a:rPr>
              <a:t>Web Services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fr-FR" sz="2500" b="1" dirty="0">
                <a:solidFill>
                  <a:srgbClr val="FF0000"/>
                </a:solidFill>
                <a:latin typeface="Eurostile" panose="020B0504020202050204" pitchFamily="34" charset="0"/>
              </a:rPr>
              <a:t>SOAP </a:t>
            </a:r>
          </a:p>
        </p:txBody>
      </p:sp>
      <p:sp>
        <p:nvSpPr>
          <p:cNvPr id="12" name="Espace réservé du contenu 30"/>
          <p:cNvSpPr txBox="1">
            <a:spLocks/>
          </p:cNvSpPr>
          <p:nvPr/>
        </p:nvSpPr>
        <p:spPr>
          <a:xfrm>
            <a:off x="3041074" y="4825099"/>
            <a:ext cx="7886700" cy="18035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Simple Object Access Protocol 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Architecture : XML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66246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Développement du service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84118" y="2522377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Service Windows 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Langage C#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IDE : Microsoft Visual Studio 2015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Création d’un service « base »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Enrichissement du service avec des fonctionnalités de plus en plus poussées 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27834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200" y="1143000"/>
            <a:ext cx="2913294" cy="5070764"/>
          </a:xfrm>
          <a:prstGeom prst="rect">
            <a:avLst/>
          </a:prstGeom>
        </p:spPr>
      </p:pic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505691" y="2017738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interface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/ ELIOT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730827" y="2812625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CtiServerConnector.DLL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Instancie une connexion avec la solution ELIOT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Permet l’écoute et le traitement d’évènements </a:t>
            </a:r>
          </a:p>
          <a:p>
            <a:pPr marL="342900" lvl="1" indent="0">
              <a:lnSpc>
                <a:spcPct val="25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   </a:t>
            </a:r>
            <a:endParaRPr lang="fr-FR" sz="17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267896" y="5237019"/>
            <a:ext cx="407323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/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envoyés par ELIOT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1698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74616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1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er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interface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Eskape.Service.CTI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/ ELIOT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84118" y="2719805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100" lvl="1" indent="-457200">
              <a:lnSpc>
                <a:spcPct val="250000"/>
              </a:lnSpc>
              <a:buAutoNum type="arabicPeriod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Tri des évènements utiles</a:t>
            </a:r>
          </a:p>
          <a:p>
            <a:pPr marL="800100" lvl="1" indent="-457200">
              <a:lnSpc>
                <a:spcPct val="250000"/>
              </a:lnSpc>
              <a:buAutoNum type="arabicPeriod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de méthodes d’écoutes de ces évènements</a:t>
            </a: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800100" lvl="1" indent="-457200">
              <a:lnSpc>
                <a:spcPct val="250000"/>
              </a:lnSpc>
              <a:buAutoNum type="arabicPeriod"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2560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 lvl="1"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d’un fichier de configuration XML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073727" y="2553550"/>
            <a:ext cx="6948055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Lu par le service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Contient le paramétrage des connexions établies par le service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Evite la recompilation en cas de modification de paramétrage</a:t>
            </a:r>
          </a:p>
        </p:txBody>
      </p:sp>
    </p:spTree>
    <p:extLst>
      <p:ext uri="{BB962C8B-B14F-4D97-AF65-F5344CB8AC3E}">
        <p14:creationId xmlns:p14="http://schemas.microsoft.com/office/powerpoint/2010/main" val="2700489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85851" y="1852150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2</a:t>
            </a:r>
            <a:r>
              <a:rPr lang="fr-FR" sz="2200" baseline="30000" dirty="0">
                <a:solidFill>
                  <a:srgbClr val="004492"/>
                </a:solidFill>
                <a:latin typeface="Eurostile" panose="020B0504020202050204" pitchFamily="34" charset="0"/>
              </a:rPr>
              <a:t>ème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travail : Communication avec 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1404505" y="2379131"/>
            <a:ext cx="6729846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100" dirty="0">
                <a:solidFill>
                  <a:srgbClr val="004492"/>
                </a:solidFill>
                <a:latin typeface="Eurostile" panose="020B0504020202050204" pitchFamily="34" charset="0"/>
              </a:rPr>
              <a:t>Par le biais d’un </a:t>
            </a:r>
            <a:r>
              <a:rPr lang="fr-FR" sz="21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WebService</a:t>
            </a:r>
            <a:r>
              <a:rPr lang="fr-FR" sz="2100" b="1" dirty="0">
                <a:solidFill>
                  <a:srgbClr val="FF0000"/>
                </a:solidFill>
                <a:latin typeface="Eurostile" panose="020B0504020202050204" pitchFamily="34" charset="0"/>
              </a:rPr>
              <a:t> SOAP</a:t>
            </a:r>
          </a:p>
          <a:p>
            <a:pPr lvl="2">
              <a:lnSpc>
                <a:spcPct val="250000"/>
              </a:lnSpc>
              <a:buFont typeface="Wingdings" panose="05000000000000000000" pitchFamily="2" charset="2"/>
              <a:buChar char="à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Distribué par Dynamics </a:t>
            </a: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Nav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via un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codeunit</a:t>
            </a:r>
            <a:r>
              <a:rPr lang="fr-FR" sz="1900" b="1" dirty="0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marL="800100" lvl="1" indent="-457200">
              <a:lnSpc>
                <a:spcPct val="250000"/>
              </a:lnSpc>
              <a:buAutoNum type="arabicPeriod"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4377125"/>
            <a:ext cx="6972300" cy="225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6710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904010" y="190187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Développement sous l’ERP Microsoft Dynamics 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063336" y="2511987"/>
            <a:ext cx="6948055" cy="25899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  Instanciation d’objets défini de base dans l’ERP :</a:t>
            </a: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</a:rPr>
              <a:t>Table </a:t>
            </a: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 err="1">
                <a:solidFill>
                  <a:srgbClr val="004492"/>
                </a:solidFill>
                <a:latin typeface="Eurostile" panose="020B0504020202050204" pitchFamily="34" charset="0"/>
              </a:rPr>
              <a:t>Form</a:t>
            </a: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150000"/>
              </a:lnSpc>
              <a:buNone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</a:t>
            </a:r>
            <a:r>
              <a:rPr lang="fr-FR" sz="1750" dirty="0" err="1">
                <a:solidFill>
                  <a:srgbClr val="004492"/>
                </a:solidFill>
                <a:latin typeface="Eurostile" panose="020B0504020202050204" pitchFamily="34" charset="0"/>
              </a:rPr>
              <a:t>Codeunit</a:t>
            </a: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150000"/>
              </a:lnSpc>
              <a:buFont typeface="Wingdings" panose="05000000000000000000" pitchFamily="2" charset="2"/>
              <a:buChar char="à"/>
            </a:pPr>
            <a:r>
              <a:rPr lang="fr-FR" sz="1750" dirty="0">
                <a:solidFill>
                  <a:srgbClr val="004492"/>
                </a:solidFill>
                <a:latin typeface="Eurostile" panose="020B0504020202050204" pitchFamily="34" charset="0"/>
              </a:rPr>
              <a:t>…</a:t>
            </a:r>
          </a:p>
          <a:p>
            <a:pPr marL="1028700" lvl="3" indent="0">
              <a:lnSpc>
                <a:spcPct val="150000"/>
              </a:lnSpc>
              <a:buNone/>
            </a:pP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150000"/>
              </a:lnSpc>
              <a:buNone/>
            </a:pPr>
            <a:endParaRPr lang="fr-FR" sz="175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1772216" y="5308448"/>
            <a:ext cx="6706766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2" indent="-342900">
              <a:buFont typeface="Wingdings" panose="05000000000000000000" pitchFamily="2" charset="2"/>
              <a:buChar char="§"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Langage : C/AL  (Client/server Application </a:t>
            </a: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</a:rPr>
              <a:t>Language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)</a:t>
            </a:r>
          </a:p>
          <a:p>
            <a:endParaRPr lang="fr-FR" dirty="0"/>
          </a:p>
        </p:txBody>
      </p:sp>
      <p:pic>
        <p:nvPicPr>
          <p:cNvPr id="1026" name="Picture 2" descr="http://www.eozys.be/uploads/images/Microsoft-dynamics-NAV2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5138" y="522087"/>
            <a:ext cx="1629555" cy="117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96393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92381" y="1711714"/>
            <a:ext cx="3844636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Chronologie Web Service :</a:t>
            </a:r>
          </a:p>
        </p:txBody>
      </p:sp>
      <p:sp>
        <p:nvSpPr>
          <p:cNvPr id="7" name="Cylindre 6"/>
          <p:cNvSpPr/>
          <p:nvPr/>
        </p:nvSpPr>
        <p:spPr>
          <a:xfrm>
            <a:off x="5418861" y="2806191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Table</a:t>
            </a:r>
          </a:p>
          <a:p>
            <a:pPr algn="ctr"/>
            <a:r>
              <a:rPr lang="fr-FR" dirty="0" err="1"/>
              <a:t>CtiCall</a:t>
            </a:r>
            <a:endParaRPr lang="fr-FR" dirty="0"/>
          </a:p>
        </p:txBody>
      </p:sp>
      <p:sp>
        <p:nvSpPr>
          <p:cNvPr id="11" name="Rectangle 10"/>
          <p:cNvSpPr/>
          <p:nvPr/>
        </p:nvSpPr>
        <p:spPr>
          <a:xfrm>
            <a:off x="1620984" y="2926812"/>
            <a:ext cx="1350815" cy="81489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Service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Windows</a:t>
            </a:r>
          </a:p>
        </p:txBody>
      </p:sp>
      <p:sp>
        <p:nvSpPr>
          <p:cNvPr id="13" name="Espace réservé du contenu 30"/>
          <p:cNvSpPr txBox="1">
            <a:spLocks/>
          </p:cNvSpPr>
          <p:nvPr/>
        </p:nvSpPr>
        <p:spPr>
          <a:xfrm>
            <a:off x="740350" y="2924155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dirty="0">
                <a:solidFill>
                  <a:srgbClr val="004492"/>
                </a:solidFill>
                <a:latin typeface="Eurostile" panose="020B0504020202050204" pitchFamily="34" charset="0"/>
              </a:rPr>
              <a:t>1.</a:t>
            </a:r>
          </a:p>
        </p:txBody>
      </p:sp>
      <p:cxnSp>
        <p:nvCxnSpPr>
          <p:cNvPr id="14" name="Connecteur droit avec flèche 13"/>
          <p:cNvCxnSpPr>
            <a:stCxn id="11" idx="3"/>
            <a:endCxn id="7" idx="2"/>
          </p:cNvCxnSpPr>
          <p:nvPr/>
        </p:nvCxnSpPr>
        <p:spPr>
          <a:xfrm>
            <a:off x="2971799" y="3334261"/>
            <a:ext cx="2447062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7117763" y="2244076"/>
            <a:ext cx="1509287" cy="830997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Enregistrement données de communication</a:t>
            </a:r>
          </a:p>
        </p:txBody>
      </p:sp>
      <p:sp>
        <p:nvSpPr>
          <p:cNvPr id="18" name="ZoneTexte 17"/>
          <p:cNvSpPr txBox="1"/>
          <p:nvPr/>
        </p:nvSpPr>
        <p:spPr>
          <a:xfrm>
            <a:off x="3303009" y="2985893"/>
            <a:ext cx="17846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Appel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7117762" y="3657922"/>
            <a:ext cx="1509288" cy="58477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Identification contact</a:t>
            </a:r>
          </a:p>
        </p:txBody>
      </p:sp>
      <p:cxnSp>
        <p:nvCxnSpPr>
          <p:cNvPr id="24" name="Connecteur droit 23"/>
          <p:cNvCxnSpPr>
            <a:stCxn id="7" idx="4"/>
            <a:endCxn id="15" idx="1"/>
          </p:cNvCxnSpPr>
          <p:nvPr/>
        </p:nvCxnSpPr>
        <p:spPr>
          <a:xfrm flipV="1">
            <a:off x="6234545" y="2659575"/>
            <a:ext cx="883218" cy="6746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25"/>
          <p:cNvCxnSpPr>
            <a:stCxn id="7" idx="4"/>
            <a:endCxn id="19" idx="1"/>
          </p:cNvCxnSpPr>
          <p:nvPr/>
        </p:nvCxnSpPr>
        <p:spPr>
          <a:xfrm>
            <a:off x="6234545" y="3334261"/>
            <a:ext cx="883217" cy="61604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Espace réservé du contenu 30"/>
          <p:cNvSpPr txBox="1">
            <a:spLocks/>
          </p:cNvSpPr>
          <p:nvPr/>
        </p:nvSpPr>
        <p:spPr>
          <a:xfrm>
            <a:off x="740350" y="5080515"/>
            <a:ext cx="652031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dirty="0">
                <a:solidFill>
                  <a:srgbClr val="004492"/>
                </a:solidFill>
                <a:latin typeface="Eurostile" panose="020B0504020202050204" pitchFamily="34" charset="0"/>
              </a:rPr>
              <a:t>2.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17741" y="5080515"/>
            <a:ext cx="1350815" cy="814898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Service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Windows</a:t>
            </a:r>
          </a:p>
        </p:txBody>
      </p:sp>
      <p:cxnSp>
        <p:nvCxnSpPr>
          <p:cNvPr id="52" name="Connecteur droit avec flèche 51"/>
          <p:cNvCxnSpPr/>
          <p:nvPr/>
        </p:nvCxnSpPr>
        <p:spPr>
          <a:xfrm>
            <a:off x="2978947" y="5290537"/>
            <a:ext cx="2447062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ZoneTexte 52"/>
          <p:cNvSpPr txBox="1"/>
          <p:nvPr/>
        </p:nvSpPr>
        <p:spPr>
          <a:xfrm>
            <a:off x="3310157" y="4951983"/>
            <a:ext cx="17846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Appel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4" name="Cylindre 53"/>
          <p:cNvSpPr/>
          <p:nvPr/>
        </p:nvSpPr>
        <p:spPr>
          <a:xfrm>
            <a:off x="5426009" y="4927225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Table</a:t>
            </a:r>
          </a:p>
          <a:p>
            <a:pPr algn="ctr"/>
            <a:r>
              <a:rPr lang="fr-FR" dirty="0" err="1"/>
              <a:t>CtiCall</a:t>
            </a:r>
            <a:endParaRPr lang="fr-FR" dirty="0"/>
          </a:p>
        </p:txBody>
      </p:sp>
      <p:sp>
        <p:nvSpPr>
          <p:cNvPr id="55" name="ZoneTexte 54"/>
          <p:cNvSpPr txBox="1"/>
          <p:nvPr/>
        </p:nvSpPr>
        <p:spPr>
          <a:xfrm>
            <a:off x="7117762" y="5162907"/>
            <a:ext cx="1509288" cy="584775"/>
          </a:xfrm>
          <a:prstGeom prst="rect">
            <a:avLst/>
          </a:prstGeom>
          <a:noFill/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Lecture de l’identification</a:t>
            </a:r>
          </a:p>
        </p:txBody>
      </p:sp>
      <p:cxnSp>
        <p:nvCxnSpPr>
          <p:cNvPr id="56" name="Connecteur droit 55"/>
          <p:cNvCxnSpPr>
            <a:stCxn id="54" idx="4"/>
            <a:endCxn id="55" idx="1"/>
          </p:cNvCxnSpPr>
          <p:nvPr/>
        </p:nvCxnSpPr>
        <p:spPr>
          <a:xfrm>
            <a:off x="6241693" y="5455295"/>
            <a:ext cx="87606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necteur droit avec flèche 59"/>
          <p:cNvCxnSpPr/>
          <p:nvPr/>
        </p:nvCxnSpPr>
        <p:spPr>
          <a:xfrm flipH="1">
            <a:off x="2978947" y="5607496"/>
            <a:ext cx="2436671" cy="0"/>
          </a:xfrm>
          <a:prstGeom prst="straightConnector1">
            <a:avLst/>
          </a:prstGeom>
          <a:ln w="38100">
            <a:solidFill>
              <a:srgbClr val="61953D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ZoneTexte 62"/>
          <p:cNvSpPr txBox="1"/>
          <p:nvPr/>
        </p:nvSpPr>
        <p:spPr>
          <a:xfrm>
            <a:off x="3227681" y="5653849"/>
            <a:ext cx="1949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chemeClr val="accent6">
                    <a:lumMod val="50000"/>
                  </a:schemeClr>
                </a:solidFill>
              </a:rPr>
              <a:t>Réponse </a:t>
            </a:r>
            <a:r>
              <a:rPr lang="fr-FR" sz="1600" dirty="0" err="1">
                <a:solidFill>
                  <a:schemeClr val="accent6">
                    <a:lumMod val="50000"/>
                  </a:schemeClr>
                </a:solidFill>
              </a:rPr>
              <a:t>WebService</a:t>
            </a:r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1926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26572" y="1797627"/>
            <a:ext cx="6785263" cy="4769428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Définition des méthodes du Web Service </a:t>
            </a:r>
          </a:p>
          <a:p>
            <a:pPr>
              <a:lnSpc>
                <a:spcPct val="20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Appel du Web Service dans les méthodes de gestion d’évènements :</a:t>
            </a:r>
          </a:p>
          <a:p>
            <a:pPr lvl="3">
              <a:lnSpc>
                <a:spcPct val="200000"/>
              </a:lnSpc>
            </a:pPr>
            <a:r>
              <a:rPr lang="fr-FR" sz="1900" dirty="0" err="1">
                <a:solidFill>
                  <a:srgbClr val="004492"/>
                </a:solidFill>
                <a:latin typeface="Eurostile" panose="020B0504020202050204" pitchFamily="34" charset="0"/>
              </a:rPr>
              <a:t>Init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IdentificationAsked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Begin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Established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lvl="3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End : </a:t>
            </a:r>
            <a:r>
              <a:rPr lang="fr-FR" sz="1900" b="1" dirty="0" err="1">
                <a:solidFill>
                  <a:srgbClr val="FF0000"/>
                </a:solidFill>
                <a:latin typeface="Eurostile" panose="020B0504020202050204" pitchFamily="34" charset="0"/>
              </a:rPr>
              <a:t>EndOfCall</a:t>
            </a: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</a:endParaRP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294409" y="3135442"/>
            <a:ext cx="8849591" cy="41797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5198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Traitement des transferts d’appels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Scénario d’appel :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1. Contact    	 Agent A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2. Agent A 	 Agent B</a:t>
            </a: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3. Agent B 	 Contact</a:t>
            </a:r>
          </a:p>
          <a:p>
            <a:pPr marL="1028700" lvl="3" indent="0">
              <a:lnSpc>
                <a:spcPct val="20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sp>
        <p:nvSpPr>
          <p:cNvPr id="3" name="Double flèche horizontale 2"/>
          <p:cNvSpPr/>
          <p:nvPr/>
        </p:nvSpPr>
        <p:spPr>
          <a:xfrm>
            <a:off x="3026082" y="3838134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7" name="Double flèche horizontale 6"/>
          <p:cNvSpPr/>
          <p:nvPr/>
        </p:nvSpPr>
        <p:spPr>
          <a:xfrm>
            <a:off x="3026081" y="4482028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8" name="Double flèche horizontale 7"/>
          <p:cNvSpPr/>
          <p:nvPr/>
        </p:nvSpPr>
        <p:spPr>
          <a:xfrm>
            <a:off x="3026080" y="5125922"/>
            <a:ext cx="393691" cy="161882"/>
          </a:xfrm>
          <a:prstGeom prst="left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45286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Traitement des transferts d’appels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Initialise 3 enregistrements dans la table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CtiCall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Contrainte : </a:t>
            </a:r>
          </a:p>
          <a:p>
            <a:pPr marL="685800" lvl="2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	 </a:t>
            </a: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1 seul enregistrement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</a:rPr>
              <a:t>	</a:t>
            </a:r>
            <a:r>
              <a:rPr lang="fr-FR" sz="19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  Conservation de toutes les informations</a:t>
            </a: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9975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000991" y="2138258"/>
            <a:ext cx="7886700" cy="7374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Identification des appels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658089" y="2873141"/>
            <a:ext cx="8849591" cy="3379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Directement après enregistrement dans la table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CtiCall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685800" lvl="2" indent="0">
              <a:lnSpc>
                <a:spcPct val="200000"/>
              </a:lnSpc>
              <a:buNone/>
            </a:pPr>
            <a:endParaRPr lang="fr-FR" sz="19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 marL="1028700" lvl="3" indent="0">
              <a:lnSpc>
                <a:spcPct val="200000"/>
              </a:lnSpc>
              <a:buNone/>
            </a:pPr>
            <a:endParaRPr lang="fr-FR" sz="17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fr-FR" sz="1900" b="1" dirty="0">
              <a:solidFill>
                <a:srgbClr val="FF0000"/>
              </a:solidFill>
              <a:latin typeface="Eurostile" panose="020B0504020202050204" pitchFamily="34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09" y="3987561"/>
            <a:ext cx="4296375" cy="514422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09" y="5366189"/>
            <a:ext cx="4267796" cy="495369"/>
          </a:xfrm>
          <a:prstGeom prst="rect">
            <a:avLst/>
          </a:prstGeom>
        </p:spPr>
      </p:pic>
      <p:sp>
        <p:nvSpPr>
          <p:cNvPr id="7" name="Espace réservé du contenu 30"/>
          <p:cNvSpPr txBox="1">
            <a:spLocks/>
          </p:cNvSpPr>
          <p:nvPr/>
        </p:nvSpPr>
        <p:spPr>
          <a:xfrm>
            <a:off x="5538589" y="3876066"/>
            <a:ext cx="2255553" cy="73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Contact identifié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5538589" y="5348361"/>
            <a:ext cx="2255553" cy="7374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Contact inconnu</a:t>
            </a:r>
          </a:p>
        </p:txBody>
      </p:sp>
    </p:spTree>
    <p:extLst>
      <p:ext uri="{BB962C8B-B14F-4D97-AF65-F5344CB8AC3E}">
        <p14:creationId xmlns:p14="http://schemas.microsoft.com/office/powerpoint/2010/main" val="20622856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514351" y="2721349"/>
            <a:ext cx="4433454" cy="201690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Interface de modification du fichier de configuration :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0766" y="210711"/>
            <a:ext cx="3408994" cy="652037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2568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57432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Sécurisation du fichier de configuration XML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670338" y="2579383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Outils C# : </a:t>
            </a:r>
            <a:r>
              <a:rPr lang="fr-FR" sz="2000" dirty="0" err="1">
                <a:solidFill>
                  <a:srgbClr val="004492"/>
                </a:solidFill>
                <a:latin typeface="Eurostile" panose="020B0504020202050204" pitchFamily="34" charset="0"/>
              </a:rPr>
              <a:t>System.Security.Cryptography</a:t>
            </a:r>
            <a:endParaRPr lang="fr-FR" sz="20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Clé de chiffrement liée à la machine physique</a:t>
            </a:r>
          </a:p>
          <a:p>
            <a:pPr marL="0" indent="0">
              <a:lnSpc>
                <a:spcPct val="200000"/>
              </a:lnSpc>
              <a:buNone/>
            </a:pPr>
            <a:endParaRPr lang="fr-FR" sz="5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à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d’une bibliothèque de chiffrement :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982190" y="5413663"/>
            <a:ext cx="2867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 algn="ctr"/>
            <a:r>
              <a:rPr lang="fr-FR" sz="2200" b="1" dirty="0">
                <a:solidFill>
                  <a:srgbClr val="FF0000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EncryptionTools.dll</a:t>
            </a:r>
            <a:endParaRPr lang="fr-FR" sz="2200" b="1" dirty="0">
              <a:solidFill>
                <a:srgbClr val="FF0000"/>
              </a:solidFill>
              <a:latin typeface="Eurostile" panose="020B0504020202050204" pitchFamily="34" charset="0"/>
            </a:endParaRPr>
          </a:p>
          <a:p>
            <a:pPr algn="ctr"/>
            <a:endParaRPr lang="fr-F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03624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05477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Création d’un installeur Windows :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571" y="2527428"/>
            <a:ext cx="4725059" cy="38772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752054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00149" y="1705477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Documentation technique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649556" y="2371564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Commentaires internes aux codes (C# et C/AL)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Explication du fonctionnement des méthodes</a:t>
            </a:r>
            <a:endParaRPr lang="fr-FR" sz="500" dirty="0">
              <a:solidFill>
                <a:srgbClr val="004492"/>
              </a:solidFill>
              <a:latin typeface="Eurostile" panose="020B0504020202050204" pitchFamily="34" charset="0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Traçabilité du code :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1200149" y="5288971"/>
            <a:ext cx="66008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FF0000"/>
                </a:solidFill>
                <a:latin typeface="Eurostile" panose="020B0504020202050204" pitchFamily="34" charset="0"/>
              </a:rPr>
              <a:t>// FA 03-05-2016  =&gt;  Module : explication de la méthode</a:t>
            </a:r>
            <a:endParaRPr lang="fr-FR" sz="2000" dirty="0">
              <a:solidFill>
                <a:srgbClr val="FF0000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endParaRPr lang="fr-FR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0757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de la solution</a:t>
            </a:r>
          </a:p>
        </p:txBody>
      </p:sp>
      <p:sp>
        <p:nvSpPr>
          <p:cNvPr id="6" name="Espace réservé du contenu 30"/>
          <p:cNvSpPr>
            <a:spLocks noGrp="1"/>
          </p:cNvSpPr>
          <p:nvPr>
            <p:ph idx="1"/>
          </p:nvPr>
        </p:nvSpPr>
        <p:spPr>
          <a:xfrm>
            <a:off x="1231322" y="1840560"/>
            <a:ext cx="8359485" cy="82195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Documentation utilisateur :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971674" y="2402737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Présentation de la solution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Installation de la solution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Eurostile" panose="020B0504020202050204" pitchFamily="34" charset="0"/>
              </a:rPr>
              <a:t>Informations complémentaires :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Cycle de vie du service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Désinstallation</a:t>
            </a:r>
          </a:p>
          <a:p>
            <a:pPr lvl="1">
              <a:lnSpc>
                <a:spcPct val="170000"/>
              </a:lnSpc>
            </a:pPr>
            <a:r>
              <a:rPr lang="fr-FR" dirty="0">
                <a:solidFill>
                  <a:srgbClr val="004492"/>
                </a:solidFill>
                <a:latin typeface="Eurostile" panose="020B0504020202050204" pitchFamily="34" charset="0"/>
              </a:rPr>
              <a:t>…</a:t>
            </a:r>
          </a:p>
          <a:p>
            <a:pPr marL="0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5346347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483301" y="2039055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Expérience très enrichissante et motivante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Projet à la fois technique, complet et intéressant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Mise en place des compétences acquises à l’</a:t>
            </a:r>
            <a:r>
              <a:rPr lang="fr-FR" sz="2200" dirty="0" err="1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lUT</a:t>
            </a: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Découverte de technologies spécifiques </a:t>
            </a:r>
          </a:p>
        </p:txBody>
      </p:sp>
    </p:spTree>
    <p:extLst>
      <p:ext uri="{BB962C8B-B14F-4D97-AF65-F5344CB8AC3E}">
        <p14:creationId xmlns:p14="http://schemas.microsoft.com/office/powerpoint/2010/main" val="1526225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10391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Bilan humain et</a:t>
            </a:r>
            <a:b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" panose="020B0504020202050204" pitchFamily="34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161183" y="1987101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</a:rPr>
              <a:t> Stage de 10 semaines : atout pour le parcours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Premier pas dans le monde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Eurostile" panose="020B0504020202050204" pitchFamily="34" charset="0"/>
                <a:sym typeface="Wingdings" panose="05000000000000000000" pitchFamily="2" charset="2"/>
              </a:rPr>
              <a:t> Me conforte dans mon envie de me diriger vers les métiers du développement de projets informatiques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200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2842975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0"/>
          <p:cNvSpPr txBox="1">
            <a:spLocks/>
          </p:cNvSpPr>
          <p:nvPr/>
        </p:nvSpPr>
        <p:spPr>
          <a:xfrm>
            <a:off x="0" y="2018273"/>
            <a:ext cx="9144000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50000"/>
              </a:lnSpc>
              <a:buNone/>
            </a:pPr>
            <a:r>
              <a:rPr lang="fr-FR" sz="5500" b="1" dirty="0">
                <a:solidFill>
                  <a:srgbClr val="004492"/>
                </a:solidFill>
                <a:latin typeface="Eurostile" panose="020B0504020202050204" pitchFamily="34" charset="0"/>
              </a:rPr>
              <a:t>Merci de votre attention</a:t>
            </a:r>
            <a:endParaRPr lang="fr-FR" sz="5500" b="1" dirty="0">
              <a:solidFill>
                <a:srgbClr val="004492"/>
              </a:solidFill>
              <a:latin typeface="Eurostile" panose="020B0504020202050204" pitchFamily="34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0186024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1217</TotalTime>
  <Words>873</Words>
  <Application>Microsoft Office PowerPoint</Application>
  <PresentationFormat>Affichage à l'écran (4:3)</PresentationFormat>
  <Paragraphs>232</Paragraphs>
  <Slides>36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36</vt:i4>
      </vt:variant>
    </vt:vector>
  </HeadingPairs>
  <TitlesOfParts>
    <vt:vector size="44" baseType="lpstr">
      <vt:lpstr>Arial</vt:lpstr>
      <vt:lpstr>Calibri</vt:lpstr>
      <vt:lpstr>Calibri Light</vt:lpstr>
      <vt:lpstr>Eurostile</vt:lpstr>
      <vt:lpstr>Microsoft New Tai Lue</vt:lpstr>
      <vt:lpstr>Wingdings</vt:lpstr>
      <vt:lpstr>Wingdings 3</vt:lpstr>
      <vt:lpstr>Thème Office</vt:lpstr>
      <vt:lpstr>Soutenance de Stage</vt:lpstr>
      <vt:lpstr>Présentation PowerPoint</vt:lpstr>
      <vt:lpstr>Présentation PowerPoint</vt:lpstr>
      <vt:lpstr>Présentation PowerPoint</vt:lpstr>
      <vt:lpstr>Présentation de l’entreprise    Eskape</vt:lpstr>
      <vt:lpstr>Présentation de l’entreprise    Eskape</vt:lpstr>
      <vt:lpstr>Sujet du stage</vt:lpstr>
      <vt:lpstr>Sujet du stage</vt:lpstr>
      <vt:lpstr>Solution CTI Eliot</vt:lpstr>
      <vt:lpstr>Présentation PowerPoint</vt:lpstr>
      <vt:lpstr>Présentation PowerPoint</vt:lpstr>
      <vt:lpstr>Présentation PowerPoint</vt:lpstr>
      <vt:lpstr>Présentation PowerPoint</vt:lpstr>
      <vt:lpstr>Analyse des besoins</vt:lpstr>
      <vt:lpstr>Analyse des besoins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Bilan humain et technique</vt:lpstr>
      <vt:lpstr>Bilan humain et technique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</dc:title>
  <dc:creator>Florent ALAPETITE</dc:creator>
  <cp:lastModifiedBy>Florent ALAPETITE</cp:lastModifiedBy>
  <cp:revision>111</cp:revision>
  <dcterms:created xsi:type="dcterms:W3CDTF">2016-05-18T12:20:50Z</dcterms:created>
  <dcterms:modified xsi:type="dcterms:W3CDTF">2017-05-16T06:38:29Z</dcterms:modified>
</cp:coreProperties>
</file>